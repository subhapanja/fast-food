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68" r:id="rId4"/>
    <p:sldId id="267" r:id="rId5"/>
    <p:sldId id="258" r:id="rId6"/>
    <p:sldId id="260" r:id="rId7"/>
    <p:sldId id="275" r:id="rId8"/>
    <p:sldId id="276" r:id="rId9"/>
    <p:sldId id="270" r:id="rId10"/>
    <p:sldId id="262" r:id="rId11"/>
    <p:sldId id="274" r:id="rId12"/>
    <p:sldId id="266" r:id="rId13"/>
  </p:sldIdLst>
  <p:sldSz cx="9144000" cy="6858000" type="screen4x3"/>
  <p:notesSz cx="9144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83" d="100"/>
          <a:sy n="83" d="100"/>
        </p:scale>
        <p:origin x="1450" y="6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D5F465-9447-4861-9EEC-84D266C8E8FA}" type="datetimeFigureOut">
              <a:rPr lang="en-IN" smtClean="0"/>
              <a:t>16-05-2026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857250"/>
            <a:ext cx="30861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22330D-53CC-4B71-9CDE-23097BDC7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40256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2125980"/>
            <a:ext cx="77724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0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840480"/>
            <a:ext cx="64008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4.jp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9144000" cy="838200"/>
          </a:xfrm>
          <a:custGeom>
            <a:avLst/>
            <a:gdLst/>
            <a:ahLst/>
            <a:cxnLst/>
            <a:rect l="l" t="t" r="r" b="b"/>
            <a:pathLst>
              <a:path w="9144000" h="838200">
                <a:moveTo>
                  <a:pt x="9144000" y="0"/>
                </a:moveTo>
                <a:lnTo>
                  <a:pt x="0" y="0"/>
                </a:lnTo>
                <a:lnTo>
                  <a:pt x="0" y="838200"/>
                </a:lnTo>
                <a:lnTo>
                  <a:pt x="9144000" y="838200"/>
                </a:lnTo>
                <a:lnTo>
                  <a:pt x="9144000" y="0"/>
                </a:lnTo>
                <a:close/>
              </a:path>
            </a:pathLst>
          </a:custGeom>
          <a:solidFill>
            <a:srgbClr val="FF33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6701028"/>
            <a:ext cx="9143999" cy="156971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6553200" y="228600"/>
            <a:ext cx="2057399" cy="634780"/>
          </a:xfrm>
          <a:prstGeom prst="rect">
            <a:avLst/>
          </a:prstGeom>
        </p:spPr>
      </p:pic>
      <p:sp>
        <p:nvSpPr>
          <p:cNvPr id="19" name="bg object 19"/>
          <p:cNvSpPr/>
          <p:nvPr/>
        </p:nvSpPr>
        <p:spPr>
          <a:xfrm>
            <a:off x="6146800" y="0"/>
            <a:ext cx="2997200" cy="838200"/>
          </a:xfrm>
          <a:custGeom>
            <a:avLst/>
            <a:gdLst/>
            <a:ahLst/>
            <a:cxnLst/>
            <a:rect l="l" t="t" r="r" b="b"/>
            <a:pathLst>
              <a:path w="2997200" h="838200">
                <a:moveTo>
                  <a:pt x="2997200" y="0"/>
                </a:moveTo>
                <a:lnTo>
                  <a:pt x="0" y="0"/>
                </a:lnTo>
                <a:lnTo>
                  <a:pt x="0" y="838200"/>
                </a:lnTo>
                <a:lnTo>
                  <a:pt x="2997200" y="838200"/>
                </a:lnTo>
                <a:lnTo>
                  <a:pt x="2997200" y="0"/>
                </a:lnTo>
                <a:close/>
              </a:path>
            </a:pathLst>
          </a:custGeom>
          <a:solidFill>
            <a:srgbClr val="FF33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0" name="bg object 20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6553200" y="228600"/>
            <a:ext cx="2057399" cy="634780"/>
          </a:xfrm>
          <a:prstGeom prst="rect">
            <a:avLst/>
          </a:prstGeom>
        </p:spPr>
      </p:pic>
      <p:sp>
        <p:nvSpPr>
          <p:cNvPr id="21" name="bg object 21"/>
          <p:cNvSpPr/>
          <p:nvPr/>
        </p:nvSpPr>
        <p:spPr>
          <a:xfrm>
            <a:off x="6527800" y="190500"/>
            <a:ext cx="2076450" cy="685800"/>
          </a:xfrm>
          <a:custGeom>
            <a:avLst/>
            <a:gdLst/>
            <a:ahLst/>
            <a:cxnLst/>
            <a:rect l="l" t="t" r="r" b="b"/>
            <a:pathLst>
              <a:path w="2076450" h="685800">
                <a:moveTo>
                  <a:pt x="2076450" y="0"/>
                </a:moveTo>
                <a:lnTo>
                  <a:pt x="0" y="0"/>
                </a:lnTo>
                <a:lnTo>
                  <a:pt x="0" y="685800"/>
                </a:lnTo>
                <a:lnTo>
                  <a:pt x="2076450" y="685800"/>
                </a:lnTo>
                <a:lnTo>
                  <a:pt x="207645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2" name="bg object 22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6629400" y="201617"/>
            <a:ext cx="1828799" cy="923920"/>
          </a:xfrm>
          <a:prstGeom prst="rect">
            <a:avLst/>
          </a:prstGeom>
        </p:spPr>
      </p:pic>
      <p:pic>
        <p:nvPicPr>
          <p:cNvPr id="23" name="bg object 23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6553200" y="228600"/>
            <a:ext cx="2057399" cy="634780"/>
          </a:xfrm>
          <a:prstGeom prst="rect">
            <a:avLst/>
          </a:prstGeom>
        </p:spPr>
      </p:pic>
      <p:sp>
        <p:nvSpPr>
          <p:cNvPr id="24" name="bg object 24"/>
          <p:cNvSpPr/>
          <p:nvPr/>
        </p:nvSpPr>
        <p:spPr>
          <a:xfrm>
            <a:off x="6576860" y="0"/>
            <a:ext cx="2110105" cy="838200"/>
          </a:xfrm>
          <a:custGeom>
            <a:avLst/>
            <a:gdLst/>
            <a:ahLst/>
            <a:cxnLst/>
            <a:rect l="l" t="t" r="r" b="b"/>
            <a:pathLst>
              <a:path w="2110104" h="838200">
                <a:moveTo>
                  <a:pt x="2109939" y="0"/>
                </a:moveTo>
                <a:lnTo>
                  <a:pt x="0" y="0"/>
                </a:lnTo>
                <a:lnTo>
                  <a:pt x="0" y="838200"/>
                </a:lnTo>
                <a:lnTo>
                  <a:pt x="2109939" y="838200"/>
                </a:lnTo>
                <a:lnTo>
                  <a:pt x="2109939" y="0"/>
                </a:lnTo>
                <a:close/>
              </a:path>
            </a:pathLst>
          </a:custGeom>
          <a:solidFill>
            <a:srgbClr val="FF33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5" name="bg object 25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6576860" y="228600"/>
            <a:ext cx="1964423" cy="634780"/>
          </a:xfrm>
          <a:prstGeom prst="rect">
            <a:avLst/>
          </a:prstGeom>
        </p:spPr>
      </p:pic>
      <p:sp>
        <p:nvSpPr>
          <p:cNvPr id="26" name="bg object 26"/>
          <p:cNvSpPr/>
          <p:nvPr/>
        </p:nvSpPr>
        <p:spPr>
          <a:xfrm>
            <a:off x="6552603" y="190500"/>
            <a:ext cx="1983105" cy="685800"/>
          </a:xfrm>
          <a:custGeom>
            <a:avLst/>
            <a:gdLst/>
            <a:ahLst/>
            <a:cxnLst/>
            <a:rect l="l" t="t" r="r" b="b"/>
            <a:pathLst>
              <a:path w="1983104" h="685800">
                <a:moveTo>
                  <a:pt x="1982622" y="0"/>
                </a:moveTo>
                <a:lnTo>
                  <a:pt x="0" y="0"/>
                </a:lnTo>
                <a:lnTo>
                  <a:pt x="0" y="685800"/>
                </a:lnTo>
                <a:lnTo>
                  <a:pt x="1982622" y="685800"/>
                </a:lnTo>
                <a:lnTo>
                  <a:pt x="1982622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7" name="bg object 27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6588721" y="201617"/>
            <a:ext cx="1828798" cy="92392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26272" y="51307"/>
            <a:ext cx="5652135" cy="6965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0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35940" y="1389516"/>
            <a:ext cx="7363459" cy="31400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40"/>
            <a:ext cx="292608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53365" y="1289100"/>
            <a:ext cx="8394446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Presentation of Industry Oriented Hands on Experience (22CS422)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57200" y="2777325"/>
            <a:ext cx="3441700" cy="990015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0"/>
              </a:spcBef>
            </a:pPr>
            <a:r>
              <a:rPr sz="2000" b="1" dirty="0">
                <a:latin typeface="Times New Roman"/>
                <a:cs typeface="Times New Roman"/>
              </a:rPr>
              <a:t>Presented</a:t>
            </a:r>
            <a:r>
              <a:rPr sz="2000" b="1" spc="-90" dirty="0">
                <a:latin typeface="Times New Roman"/>
                <a:cs typeface="Times New Roman"/>
              </a:rPr>
              <a:t> </a:t>
            </a:r>
            <a:r>
              <a:rPr sz="2000" b="1" spc="-25" dirty="0">
                <a:latin typeface="Times New Roman"/>
                <a:cs typeface="Times New Roman"/>
              </a:rPr>
              <a:t>By:</a:t>
            </a:r>
            <a:endParaRPr sz="2000" dirty="0">
              <a:latin typeface="Times New Roman"/>
              <a:cs typeface="Times New Roman"/>
            </a:endParaRPr>
          </a:p>
          <a:p>
            <a:pPr marL="12701">
              <a:lnSpc>
                <a:spcPct val="100000"/>
              </a:lnSpc>
              <a:spcBef>
                <a:spcPts val="300"/>
              </a:spcBef>
              <a:tabLst>
                <a:tab pos="527685" algn="l"/>
              </a:tabLst>
            </a:pPr>
            <a:r>
              <a:rPr lang="en-US" spc="-25" dirty="0" err="1" smtClean="0">
                <a:latin typeface="Times New Roman"/>
                <a:cs typeface="Times New Roman"/>
              </a:rPr>
              <a:t>Subha</a:t>
            </a:r>
            <a:r>
              <a:rPr lang="en-US" spc="-25" dirty="0">
                <a:latin typeface="Times New Roman"/>
                <a:cs typeface="Times New Roman"/>
              </a:rPr>
              <a:t> </a:t>
            </a:r>
            <a:r>
              <a:rPr lang="en-US" spc="-25" dirty="0" err="1" smtClean="0">
                <a:latin typeface="Times New Roman"/>
                <a:cs typeface="Times New Roman"/>
              </a:rPr>
              <a:t>Panja</a:t>
            </a:r>
            <a:r>
              <a:rPr sz="1800" spc="-25" dirty="0" smtClean="0">
                <a:latin typeface="Times New Roman"/>
                <a:cs typeface="Times New Roman"/>
              </a:rPr>
              <a:t> </a:t>
            </a:r>
            <a:r>
              <a:rPr lang="en-IN" sz="1800" spc="-25" dirty="0" smtClean="0">
                <a:latin typeface="Times New Roman"/>
                <a:cs typeface="Times New Roman"/>
              </a:rPr>
              <a:t>   </a:t>
            </a:r>
            <a:r>
              <a:rPr sz="1800" spc="-10" dirty="0">
                <a:latin typeface="Times New Roman"/>
                <a:cs typeface="Times New Roman"/>
              </a:rPr>
              <a:t>(</a:t>
            </a:r>
            <a:r>
              <a:rPr sz="1800" spc="-10" dirty="0" smtClean="0">
                <a:latin typeface="Times New Roman"/>
                <a:cs typeface="Times New Roman"/>
              </a:rPr>
              <a:t>2211981</a:t>
            </a:r>
            <a:r>
              <a:rPr lang="en-US" spc="-10" dirty="0" smtClean="0">
                <a:latin typeface="Times New Roman"/>
                <a:cs typeface="Times New Roman"/>
              </a:rPr>
              <a:t>407</a:t>
            </a:r>
            <a:r>
              <a:rPr sz="1800" spc="-10" dirty="0" smtClean="0">
                <a:latin typeface="Times New Roman"/>
                <a:cs typeface="Times New Roman"/>
              </a:rPr>
              <a:t>)</a:t>
            </a:r>
            <a:endParaRPr sz="1800" dirty="0">
              <a:latin typeface="Times New Roman"/>
              <a:cs typeface="Times New Roman"/>
            </a:endParaRPr>
          </a:p>
          <a:p>
            <a:pPr marL="12701">
              <a:lnSpc>
                <a:spcPct val="100000"/>
              </a:lnSpc>
              <a:spcBef>
                <a:spcPts val="300"/>
              </a:spcBef>
              <a:tabLst>
                <a:tab pos="527685" algn="l"/>
              </a:tabLst>
            </a:pPr>
            <a:endParaRPr lang="en-IN" sz="1800" dirty="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596376" y="6429883"/>
            <a:ext cx="10287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50" dirty="0">
                <a:solidFill>
                  <a:srgbClr val="888888"/>
                </a:solidFill>
                <a:latin typeface="Calibri"/>
                <a:cs typeface="Calibri"/>
              </a:rPr>
              <a:t>1</a:t>
            </a:r>
            <a:endParaRPr sz="1200" b="1" dirty="0">
              <a:latin typeface="Calibri"/>
              <a:cs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7E68CDA1-A63A-86D8-39D2-0DCAE964703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7000" y="184939"/>
            <a:ext cx="2133600" cy="91291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E7FEBEBD-8E0E-2A92-10D6-8AD378528C6C}"/>
              </a:ext>
            </a:extLst>
          </p:cNvPr>
          <p:cNvSpPr txBox="1"/>
          <p:nvPr/>
        </p:nvSpPr>
        <p:spPr>
          <a:xfrm>
            <a:off x="1905000" y="5539403"/>
            <a:ext cx="58674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Engineering,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Chitkara University, Punjab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0C634374-AA52-428E-F947-D44ED11309D2}"/>
              </a:ext>
            </a:extLst>
          </p:cNvPr>
          <p:cNvSpPr txBox="1"/>
          <p:nvPr/>
        </p:nvSpPr>
        <p:spPr>
          <a:xfrm>
            <a:off x="4953000" y="2777325"/>
            <a:ext cx="3490976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Supervised By:</a:t>
            </a:r>
          </a:p>
          <a:p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Dr.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Swati </a:t>
            </a:r>
            <a:r>
              <a:rPr lang="en-I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Goel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Assistant Professor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Chitkara University, Rajpura</a:t>
            </a: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1800" dirty="0"/>
              <a:t>	</a:t>
            </a:r>
          </a:p>
          <a:p>
            <a:endParaRPr lang="en-IN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xmlns="" id="{77DBBC10-392A-B179-CBEC-94E23E583393}"/>
              </a:ext>
            </a:extLst>
          </p:cNvPr>
          <p:cNvSpPr txBox="1"/>
          <p:nvPr/>
        </p:nvSpPr>
        <p:spPr>
          <a:xfrm>
            <a:off x="762000" y="1605426"/>
            <a:ext cx="783437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                                                    </a:t>
            </a:r>
            <a:r>
              <a:rPr lang="en-IN" sz="24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On</a:t>
            </a:r>
          </a:p>
          <a:p>
            <a:r>
              <a:rPr lang="en-US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r>
              <a:rPr lang="en-US" sz="2400" b="1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Tomato Food Delivery Website</a:t>
            </a:r>
            <a:r>
              <a:rPr lang="en-US" sz="2400" b="1" i="0" u="none" strike="noStrike" baseline="0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en-IN" sz="24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09370">
              <a:lnSpc>
                <a:spcPct val="100000"/>
              </a:lnSpc>
              <a:spcBef>
                <a:spcPts val="100"/>
              </a:spcBef>
            </a:pPr>
            <a:r>
              <a:rPr sz="4400" b="1" spc="-10" dirty="0">
                <a:latin typeface="Times New Roman"/>
                <a:cs typeface="Times New Roman"/>
              </a:rPr>
              <a:t>Introduction</a:t>
            </a:r>
            <a:endParaRPr sz="4400" dirty="0">
              <a:latin typeface="Times New Roman"/>
              <a:cs typeface="Times New Roman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FA43847B-CD13-AF0A-69BA-8D9E5149424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7000" y="184939"/>
            <a:ext cx="2133600" cy="912912"/>
          </a:xfrm>
          <a:prstGeom prst="rect">
            <a:avLst/>
          </a:prstGeom>
        </p:spPr>
      </p:pic>
      <p:sp>
        <p:nvSpPr>
          <p:cNvPr id="10" name="Rectangle 4">
            <a:extLst>
              <a:ext uri="{FF2B5EF4-FFF2-40B4-BE49-F238E27FC236}">
                <a16:creationId xmlns:a16="http://schemas.microsoft.com/office/drawing/2014/main" xmlns="" id="{0CE62800-DD72-28F1-2889-8E8B29E1B1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9836" y="2090172"/>
            <a:ext cx="8435564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2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Tomato is a trusted food delivery website.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2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 Deliver fresh and delicious food directly to your doorstep</a:t>
            </a:r>
            <a:r>
              <a:rPr lang="en-US" altLang="en-US" sz="2400" b="1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2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Order your favorite restaurants anytime, anywhere </a:t>
            </a:r>
            <a:r>
              <a:rPr kumimoji="0" lang="en-US" altLang="en-US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Enjoy fast, safe, and reliable delivery service </a:t>
            </a:r>
            <a:r>
              <a:rPr kumimoji="0" lang="en-US" altLang="en-US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2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Secure online payments and real-time order tracking 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2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Quality food and customer satisfaction our top </a:t>
            </a:r>
            <a:r>
              <a:rPr lang="en-US" altLang="en-US" sz="2400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priorites</a:t>
            </a:r>
            <a:r>
              <a:rPr kumimoji="0" lang="en-US" altLang="en-US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2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website is fully customer friendly website</a:t>
            </a:r>
            <a:r>
              <a:rPr kumimoji="0" lang="en-US" altLang="en-US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object 5">
            <a:extLst>
              <a:ext uri="{FF2B5EF4-FFF2-40B4-BE49-F238E27FC236}">
                <a16:creationId xmlns:a16="http://schemas.microsoft.com/office/drawing/2014/main" xmlns="" id="{3A0A07E5-D586-B93B-6E9A-FAF0A6A2012D}"/>
              </a:ext>
            </a:extLst>
          </p:cNvPr>
          <p:cNvSpPr txBox="1"/>
          <p:nvPr/>
        </p:nvSpPr>
        <p:spPr>
          <a:xfrm>
            <a:off x="8596376" y="6429883"/>
            <a:ext cx="10287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1200" b="1" spc="-50" dirty="0">
                <a:solidFill>
                  <a:srgbClr val="888888"/>
                </a:solidFill>
                <a:latin typeface="Calibri"/>
                <a:cs typeface="Calibri"/>
              </a:rPr>
              <a:t>2</a:t>
            </a:r>
            <a:endParaRPr sz="1200" b="1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00BDF03-D166-7311-4904-24E76424A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76200"/>
            <a:ext cx="5652135" cy="677108"/>
          </a:xfrm>
        </p:spPr>
        <p:txBody>
          <a:bodyPr/>
          <a:lstStyle/>
          <a:p>
            <a:r>
              <a:rPr lang="en-IN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Technology Stack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6E14DF5B-998A-6A83-F2EF-B13AC51343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7000" y="184939"/>
            <a:ext cx="2133600" cy="912912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xmlns="" id="{8204A672-03D2-CF1E-74B1-DD2295548A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632466"/>
            <a:ext cx="8229600" cy="3046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Frontend: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React.js (for building user interface)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Backend: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Node.js and Express.js (for server and APIs)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Database: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MongoDB (for storing user and project data)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Authentication: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JWT (JSON Web Token for secure login)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AI Integration: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Google Gemini API (for chat, summary, quiz, flashcards)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UI Design: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Tailwind CSS (for responsive and modern design)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Development Tool: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Visual Studio Code</a:t>
            </a:r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xmlns="" id="{79243BC8-606A-C98C-9BCC-89C129A04E83}"/>
              </a:ext>
            </a:extLst>
          </p:cNvPr>
          <p:cNvSpPr txBox="1"/>
          <p:nvPr/>
        </p:nvSpPr>
        <p:spPr>
          <a:xfrm>
            <a:off x="8596376" y="6429883"/>
            <a:ext cx="10287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1200" b="1" spc="-50" dirty="0">
                <a:solidFill>
                  <a:srgbClr val="888888"/>
                </a:solidFill>
                <a:latin typeface="Calibri"/>
                <a:cs typeface="Calibri"/>
              </a:rPr>
              <a:t>3</a:t>
            </a:r>
            <a:endParaRPr sz="1200" b="1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394508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DB44152-D368-136D-74EA-B2E2806A93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76200"/>
            <a:ext cx="5652135" cy="677108"/>
          </a:xfrm>
        </p:spPr>
        <p:txBody>
          <a:bodyPr/>
          <a:lstStyle/>
          <a:p>
            <a:r>
              <a:rPr lang="en-IN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Abstract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C2C5A180-79D2-250B-AC35-6F7A3EACA66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7000" y="184939"/>
            <a:ext cx="2133600" cy="9129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22D0E91C-6267-7E7B-EDF0-A4E1BD3E348A}"/>
              </a:ext>
            </a:extLst>
          </p:cNvPr>
          <p:cNvSpPr txBox="1"/>
          <p:nvPr/>
        </p:nvSpPr>
        <p:spPr>
          <a:xfrm>
            <a:off x="462116" y="1219200"/>
            <a:ext cx="8300884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Tomato Food Delivery website is fully customer base and user friendly website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buNone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7" indent="-342900" algn="l" rtl="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Online platform food order is so easy to user.</a:t>
            </a:r>
            <a:endParaRPr kumimoji="0" lang="en-US" altLang="en-US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7" indent="-342900" algn="l" rtl="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Connects user in different restaurant.</a:t>
            </a:r>
            <a:endParaRPr kumimoji="0" lang="en-US" altLang="en-US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7" indent="-342900" algn="l" rtl="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Secure online payments.</a:t>
            </a:r>
            <a:endParaRPr kumimoji="0" lang="en-US" altLang="en-US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7" indent="-342900" algn="l" rtl="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Quick fast and fresh food deliver on your doorsteps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lvl="7" indent="-342900" algn="l" rtl="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Real time order tracking features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lvl="7" indent="-342900" algn="l" rtl="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Offers a variety on food options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1"/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xmlns="" id="{7E425941-05E1-FE59-01E9-BC6C72794EB2}"/>
              </a:ext>
            </a:extLst>
          </p:cNvPr>
          <p:cNvSpPr txBox="1"/>
          <p:nvPr/>
        </p:nvSpPr>
        <p:spPr>
          <a:xfrm>
            <a:off x="8596376" y="6429883"/>
            <a:ext cx="10287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1200" b="1" spc="-50" dirty="0">
                <a:solidFill>
                  <a:srgbClr val="888888"/>
                </a:solidFill>
                <a:latin typeface="Calibri"/>
                <a:cs typeface="Calibri"/>
              </a:rPr>
              <a:t>4</a:t>
            </a:r>
            <a:endParaRPr sz="1200" b="1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913143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49425">
              <a:lnSpc>
                <a:spcPct val="100000"/>
              </a:lnSpc>
              <a:spcBef>
                <a:spcPts val="95"/>
              </a:spcBef>
            </a:pPr>
            <a:r>
              <a:rPr sz="4400" b="1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CEA4AA64-97E8-F9B1-4CEB-8BBB046B549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7000" y="184939"/>
            <a:ext cx="2133600" cy="9129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8E79B8D9-5075-0A19-EDDE-E1EC846C3B3B}"/>
              </a:ext>
            </a:extLst>
          </p:cNvPr>
          <p:cNvSpPr txBox="1"/>
          <p:nvPr/>
        </p:nvSpPr>
        <p:spPr>
          <a:xfrm>
            <a:off x="609600" y="1262560"/>
            <a:ext cx="8229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provide an online food ordering platform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create a user friendly interface for users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Efficient order management to mange menu, update menu, monitor customer order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Cart and payments system user add multiple items and payments through online mode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Order tracking system to track order properly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Responsive web design to work properly and not disturb users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xmlns="" id="{E8478060-386A-4F35-EAB8-2A78A9D7CF08}"/>
              </a:ext>
            </a:extLst>
          </p:cNvPr>
          <p:cNvSpPr txBox="1"/>
          <p:nvPr/>
        </p:nvSpPr>
        <p:spPr>
          <a:xfrm>
            <a:off x="8596376" y="6429883"/>
            <a:ext cx="10287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1200" b="1" spc="-50" dirty="0">
                <a:solidFill>
                  <a:srgbClr val="888888"/>
                </a:solidFill>
                <a:latin typeface="Calibri"/>
                <a:cs typeface="Calibri"/>
              </a:rPr>
              <a:t>5</a:t>
            </a:r>
            <a:endParaRPr sz="1200" b="1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928905" y="69596"/>
            <a:ext cx="3328895" cy="62773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</a:t>
            </a:r>
            <a:r>
              <a:rPr b="1" spc="-1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1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48751577-AB9C-1365-3CE8-BAA6B1116E6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7000" y="184939"/>
            <a:ext cx="2133600" cy="912912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xmlns="" id="{D3F74F32-F6A0-CCA2-D5CE-C145C01436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836514"/>
            <a:ext cx="8382000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User Authentication: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Secure login and signup using JWT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2400" b="1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Food menu browsing: </a:t>
            </a:r>
            <a:r>
              <a:rPr lang="en-US" altLang="en-US" sz="2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user browse any items and order it.</a:t>
            </a:r>
            <a:endParaRPr kumimoji="0" lang="en-US" altLang="en-US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2400" b="1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 to Cart</a:t>
            </a:r>
            <a:r>
              <a:rPr kumimoji="0" lang="en-US" altLang="en-US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user</a:t>
            </a:r>
            <a:r>
              <a:rPr kumimoji="0" lang="en-US" altLang="en-US" sz="24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can add food items, quantity and total price before placing order. 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2400" b="1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Order placements</a:t>
            </a:r>
            <a:r>
              <a:rPr kumimoji="0" lang="en-US" altLang="en-US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altLang="en-US" sz="2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user order there items and system store the data through the database.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2400" b="1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Order History</a:t>
            </a:r>
            <a:r>
              <a:rPr kumimoji="0" lang="en-US" altLang="en-US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the</a:t>
            </a:r>
            <a:r>
              <a:rPr kumimoji="0" lang="en-US" altLang="en-US" sz="24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system allows users to check there order history.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2400" b="1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Admin management</a:t>
            </a:r>
            <a:r>
              <a:rPr kumimoji="0" lang="en-US" altLang="en-US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admin</a:t>
            </a:r>
            <a:r>
              <a:rPr kumimoji="0" lang="en-US" altLang="en-US" sz="24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can also track the order efficiently.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xmlns="" id="{BD85268C-5ED6-7D63-FB41-3E5961A5C464}"/>
              </a:ext>
            </a:extLst>
          </p:cNvPr>
          <p:cNvSpPr txBox="1"/>
          <p:nvPr/>
        </p:nvSpPr>
        <p:spPr>
          <a:xfrm>
            <a:off x="8596376" y="6429883"/>
            <a:ext cx="10287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1200" b="1" spc="-50" dirty="0">
                <a:solidFill>
                  <a:srgbClr val="888888"/>
                </a:solidFill>
                <a:latin typeface="Calibri"/>
                <a:cs typeface="Calibri"/>
              </a:rPr>
              <a:t>6</a:t>
            </a:r>
            <a:endParaRPr sz="1200" b="1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06AA0C8-EA58-2BD5-141F-252816754C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272" y="51307"/>
            <a:ext cx="5652135" cy="615553"/>
          </a:xfrm>
        </p:spPr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System Architecture</a:t>
            </a: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C3728419-7140-62A3-5D4F-6DC04ECFF04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7000" y="184939"/>
            <a:ext cx="2133600" cy="912912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xmlns="" id="{0E5CFF7E-D9A1-6FCB-CBCA-46DC7EDC39B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52400" y="1805736"/>
            <a:ext cx="8839200" cy="39857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3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system follows a </a:t>
            </a:r>
            <a:r>
              <a:rPr kumimoji="0" lang="en-US" altLang="en-US" sz="23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3-tier architecture</a:t>
            </a:r>
            <a:r>
              <a:rPr kumimoji="0" lang="en-US" altLang="en-US" sz="23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Frontend, Backend, and Database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3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Frontend (React.js + Tailwind CSS)</a:t>
            </a:r>
            <a:r>
              <a:rPr kumimoji="0" lang="en-US" altLang="en-US" sz="23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handles user interface and </a:t>
            </a:r>
            <a:r>
              <a:rPr kumimoji="0" lang="en-US" altLang="en-US" sz="23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interactions</a:t>
            </a:r>
            <a:endParaRPr kumimoji="0" lang="en-US" altLang="en-US" sz="2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3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Backend (Node.js + Express.js)</a:t>
            </a:r>
            <a:r>
              <a:rPr kumimoji="0" lang="en-US" altLang="en-US" sz="23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processes requests and manages application logic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3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Implements </a:t>
            </a:r>
            <a:r>
              <a:rPr kumimoji="0" lang="en-US" altLang="en-US" sz="23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JWT authentication</a:t>
            </a:r>
            <a:r>
              <a:rPr kumimoji="0" lang="en-US" altLang="en-US" sz="23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for secure login and access </a:t>
            </a:r>
            <a:r>
              <a:rPr kumimoji="0" lang="en-US" altLang="en-US" sz="23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control</a:t>
            </a:r>
            <a:endParaRPr kumimoji="0" lang="en-US" altLang="en-US" sz="2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3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Database (MongoDB)</a:t>
            </a:r>
            <a:r>
              <a:rPr kumimoji="0" lang="en-US" altLang="en-US" sz="23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stores users, documents, flashcards, quizzes, and results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3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 flows from </a:t>
            </a:r>
            <a:r>
              <a:rPr kumimoji="0" lang="en-US" altLang="en-US" sz="23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User → Frontend → Backend → AI/Database → Frontend</a:t>
            </a:r>
            <a:endParaRPr kumimoji="0" lang="en-US" altLang="en-US" sz="2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xmlns="" id="{C25B56BF-291F-90FF-7775-D38AD9D9058F}"/>
              </a:ext>
            </a:extLst>
          </p:cNvPr>
          <p:cNvSpPr txBox="1"/>
          <p:nvPr/>
        </p:nvSpPr>
        <p:spPr>
          <a:xfrm>
            <a:off x="8596376" y="6429883"/>
            <a:ext cx="10287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1200" b="1" spc="-50" dirty="0">
                <a:solidFill>
                  <a:srgbClr val="888888"/>
                </a:solidFill>
                <a:latin typeface="Calibri"/>
                <a:cs typeface="Calibri"/>
              </a:rPr>
              <a:t>8</a:t>
            </a:r>
            <a:endParaRPr sz="1200" b="1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15289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7C2AAFF-C957-0822-2AA2-F42337E8F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272" y="51307"/>
            <a:ext cx="5652135" cy="615553"/>
          </a:xfrm>
        </p:spPr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Data Flow Diagram</a:t>
            </a: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60571035-9E1E-DB01-FFFC-5BE2B37B613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7000" y="184939"/>
            <a:ext cx="2133600" cy="912912"/>
          </a:xfrm>
          <a:prstGeom prst="rect">
            <a:avLst/>
          </a:prstGeom>
        </p:spPr>
      </p:pic>
      <p:sp>
        <p:nvSpPr>
          <p:cNvPr id="5" name="object 5">
            <a:extLst>
              <a:ext uri="{FF2B5EF4-FFF2-40B4-BE49-F238E27FC236}">
                <a16:creationId xmlns:a16="http://schemas.microsoft.com/office/drawing/2014/main" xmlns="" id="{29E3B25B-4F80-C8C9-D5FA-29A7DB24371D}"/>
              </a:ext>
            </a:extLst>
          </p:cNvPr>
          <p:cNvSpPr txBox="1"/>
          <p:nvPr/>
        </p:nvSpPr>
        <p:spPr>
          <a:xfrm>
            <a:off x="8596376" y="6429883"/>
            <a:ext cx="10287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1200" b="1" spc="-50" dirty="0">
                <a:solidFill>
                  <a:srgbClr val="888888"/>
                </a:solidFill>
                <a:latin typeface="Calibri"/>
                <a:cs typeface="Calibri"/>
              </a:rPr>
              <a:t>9</a:t>
            </a:r>
            <a:endParaRPr sz="1200" b="1" dirty="0">
              <a:latin typeface="Calibri"/>
              <a:cs typeface="Calibri"/>
            </a:endParaRPr>
          </a:p>
        </p:txBody>
      </p:sp>
      <p:pic>
        <p:nvPicPr>
          <p:cNvPr id="9" name="Picture 8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974534"/>
            <a:ext cx="5452110" cy="545534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4027375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8A6037F-5148-57F4-A1D3-7DC557600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54864"/>
            <a:ext cx="5652135" cy="696595"/>
          </a:xfrm>
        </p:spPr>
        <p:txBody>
          <a:bodyPr wrap="square">
            <a:normAutofit/>
          </a:bodyPr>
          <a:lstStyle/>
          <a:p>
            <a:r>
              <a:rPr lang="en-IN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Case Diagram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AF23908F-2390-288E-7E4D-8C2CB0F5A18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7000" y="184939"/>
            <a:ext cx="2133600" cy="912912"/>
          </a:xfrm>
          <a:prstGeom prst="rect">
            <a:avLst/>
          </a:prstGeom>
        </p:spPr>
      </p:pic>
      <p:sp>
        <p:nvSpPr>
          <p:cNvPr id="6" name="object 5">
            <a:extLst>
              <a:ext uri="{FF2B5EF4-FFF2-40B4-BE49-F238E27FC236}">
                <a16:creationId xmlns:a16="http://schemas.microsoft.com/office/drawing/2014/main" xmlns="" id="{68A425A4-AAD4-7B74-953A-2C7E2CAF98F6}"/>
              </a:ext>
            </a:extLst>
          </p:cNvPr>
          <p:cNvSpPr txBox="1"/>
          <p:nvPr/>
        </p:nvSpPr>
        <p:spPr>
          <a:xfrm>
            <a:off x="8610600" y="6398524"/>
            <a:ext cx="22860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50" dirty="0">
                <a:solidFill>
                  <a:srgbClr val="888888"/>
                </a:solidFill>
                <a:latin typeface="Calibri"/>
                <a:cs typeface="Calibri"/>
              </a:rPr>
              <a:t>1</a:t>
            </a:r>
            <a:r>
              <a:rPr lang="en-IN" sz="1200" b="1" spc="-50" dirty="0">
                <a:solidFill>
                  <a:srgbClr val="888888"/>
                </a:solidFill>
                <a:latin typeface="Calibri"/>
                <a:cs typeface="Calibri"/>
              </a:rPr>
              <a:t>0</a:t>
            </a:r>
            <a:endParaRPr sz="1200" b="1" dirty="0">
              <a:latin typeface="Calibri"/>
              <a:cs typeface="Calibri"/>
            </a:endParaRPr>
          </a:p>
        </p:txBody>
      </p:sp>
      <p:pic>
        <p:nvPicPr>
          <p:cNvPr id="7" name="Picture 6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881533"/>
            <a:ext cx="5172075" cy="5714481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149904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26272" y="51307"/>
            <a:ext cx="5652135" cy="68929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393190">
              <a:lnSpc>
                <a:spcPct val="100000"/>
              </a:lnSpc>
              <a:spcBef>
                <a:spcPts val="95"/>
              </a:spcBef>
            </a:pPr>
            <a:r>
              <a:rPr lang="en-IN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</a:t>
            </a:r>
            <a:r>
              <a:rPr lang="en-IN" sz="4400" b="1" spc="-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4400" b="1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Diagram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2D09D340-BE3B-E946-B75C-84263E2858E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7000" y="184939"/>
            <a:ext cx="2133600" cy="912912"/>
          </a:xfrm>
          <a:prstGeom prst="rect">
            <a:avLst/>
          </a:prstGeom>
        </p:spPr>
      </p:pic>
      <p:sp>
        <p:nvSpPr>
          <p:cNvPr id="5" name="object 5">
            <a:extLst>
              <a:ext uri="{FF2B5EF4-FFF2-40B4-BE49-F238E27FC236}">
                <a16:creationId xmlns:a16="http://schemas.microsoft.com/office/drawing/2014/main" xmlns="" id="{A2FA2AAA-AF58-2B00-7C7E-FBD941F9C2BF}"/>
              </a:ext>
            </a:extLst>
          </p:cNvPr>
          <p:cNvSpPr txBox="1"/>
          <p:nvPr/>
        </p:nvSpPr>
        <p:spPr>
          <a:xfrm>
            <a:off x="8610600" y="6499604"/>
            <a:ext cx="22860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50" dirty="0">
                <a:solidFill>
                  <a:srgbClr val="888888"/>
                </a:solidFill>
                <a:latin typeface="Calibri"/>
                <a:cs typeface="Calibri"/>
              </a:rPr>
              <a:t>1</a:t>
            </a:r>
            <a:r>
              <a:rPr lang="en-IN" sz="1200" b="1" spc="-50" dirty="0">
                <a:solidFill>
                  <a:srgbClr val="888888"/>
                </a:solidFill>
                <a:latin typeface="Calibri"/>
                <a:cs typeface="Calibri"/>
              </a:rPr>
              <a:t>2</a:t>
            </a:r>
            <a:endParaRPr sz="1200" b="1" dirty="0">
              <a:latin typeface="Calibri"/>
              <a:cs typeface="Calibri"/>
            </a:endParaRPr>
          </a:p>
        </p:txBody>
      </p:sp>
      <p:pic>
        <p:nvPicPr>
          <p:cNvPr id="7" name="Picture 6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8785" y="1488757"/>
            <a:ext cx="5726430" cy="388048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xmlns="" id="{493F05D2-0CF0-F50B-3990-34C2BBEDA37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7000" y="184939"/>
            <a:ext cx="2133600" cy="91291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670AB9A6-661D-98F5-569D-01CAEE4CB357}"/>
              </a:ext>
            </a:extLst>
          </p:cNvPr>
          <p:cNvSpPr txBox="1"/>
          <p:nvPr/>
        </p:nvSpPr>
        <p:spPr>
          <a:xfrm>
            <a:off x="990600" y="0"/>
            <a:ext cx="4572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Testing &amp; Results</a:t>
            </a:r>
            <a:endParaRPr lang="en-US" sz="4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1D1CE0F6-40EA-4E16-A144-341EED989D98}"/>
              </a:ext>
            </a:extLst>
          </p:cNvPr>
          <p:cNvSpPr txBox="1"/>
          <p:nvPr/>
        </p:nvSpPr>
        <p:spPr>
          <a:xfrm>
            <a:off x="609600" y="1219200"/>
            <a:ext cx="7620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📌 Testing: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Performed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Unit Testing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each module (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authentication 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featurs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Conducted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Integration Testing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check frontend-backend communication.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Verified all features through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Functional Testing.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Tested UI for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responsiveness and smooth navigation.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4ACF4958-4BE6-33DD-9F18-4F630709D5AE}"/>
              </a:ext>
            </a:extLst>
          </p:cNvPr>
          <p:cNvSpPr txBox="1"/>
          <p:nvPr/>
        </p:nvSpPr>
        <p:spPr>
          <a:xfrm>
            <a:off x="609600" y="3977283"/>
            <a:ext cx="83058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📌 Results</a:t>
            </a: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5" indent="-342900" algn="just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Quiz system displayed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correct results with explanations.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5" indent="-342900" algn="just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Dashboard showed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progress and activity properly.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5" indent="-342900" algn="just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Overall system provided a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smooth and user-friendly experience.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object 5">
            <a:extLst>
              <a:ext uri="{FF2B5EF4-FFF2-40B4-BE49-F238E27FC236}">
                <a16:creationId xmlns:a16="http://schemas.microsoft.com/office/drawing/2014/main" xmlns="" id="{846D5837-1F4F-97E9-BEA7-9741F16FE97E}"/>
              </a:ext>
            </a:extLst>
          </p:cNvPr>
          <p:cNvSpPr txBox="1"/>
          <p:nvPr/>
        </p:nvSpPr>
        <p:spPr>
          <a:xfrm>
            <a:off x="8610600" y="6398524"/>
            <a:ext cx="22860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50" dirty="0">
                <a:solidFill>
                  <a:srgbClr val="888888"/>
                </a:solidFill>
                <a:latin typeface="Calibri"/>
                <a:cs typeface="Calibri"/>
              </a:rPr>
              <a:t>1</a:t>
            </a:r>
            <a:r>
              <a:rPr lang="en-IN" sz="1200" b="1" spc="-50" dirty="0">
                <a:solidFill>
                  <a:srgbClr val="888888"/>
                </a:solidFill>
                <a:latin typeface="Calibri"/>
                <a:cs typeface="Calibri"/>
              </a:rPr>
              <a:t>4</a:t>
            </a:r>
            <a:endParaRPr sz="1200" b="1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908301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581148" y="3030863"/>
            <a:ext cx="3978910" cy="1031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600" b="1" spc="-1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/>
                <a:cs typeface="Times New Roman"/>
              </a:rPr>
              <a:t>Thank</a:t>
            </a:r>
            <a:r>
              <a:rPr sz="6600" b="1" spc="-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/>
                <a:cs typeface="Times New Roman"/>
              </a:rPr>
              <a:t> </a:t>
            </a:r>
            <a:r>
              <a:rPr sz="6600" b="1" spc="-775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/>
                <a:cs typeface="Times New Roman"/>
              </a:rPr>
              <a:t>Y</a:t>
            </a:r>
            <a:r>
              <a:rPr sz="6600" b="1" spc="-45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/>
                <a:cs typeface="Times New Roman"/>
              </a:rPr>
              <a:t>o</a:t>
            </a:r>
            <a:r>
              <a:rPr sz="6600" b="1" spc="-5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/>
                <a:cs typeface="Times New Roman"/>
              </a:rPr>
              <a:t>u</a:t>
            </a:r>
            <a:endParaRPr sz="6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/>
              <a:cs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3930174A-A083-53B5-D70B-5C94D193CE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7000" y="184939"/>
            <a:ext cx="2133600" cy="912912"/>
          </a:xfrm>
          <a:prstGeom prst="rect">
            <a:avLst/>
          </a:prstGeom>
        </p:spPr>
      </p:pic>
      <p:sp>
        <p:nvSpPr>
          <p:cNvPr id="5" name="object 5">
            <a:extLst>
              <a:ext uri="{FF2B5EF4-FFF2-40B4-BE49-F238E27FC236}">
                <a16:creationId xmlns:a16="http://schemas.microsoft.com/office/drawing/2014/main" xmlns="" id="{0DDF80EE-729D-217D-DCE7-922B20254C12}"/>
              </a:ext>
            </a:extLst>
          </p:cNvPr>
          <p:cNvSpPr txBox="1"/>
          <p:nvPr/>
        </p:nvSpPr>
        <p:spPr>
          <a:xfrm>
            <a:off x="8610600" y="6398524"/>
            <a:ext cx="22860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50" dirty="0">
                <a:solidFill>
                  <a:srgbClr val="888888"/>
                </a:solidFill>
                <a:latin typeface="Calibri"/>
                <a:cs typeface="Calibri"/>
              </a:rPr>
              <a:t>1</a:t>
            </a:r>
            <a:r>
              <a:rPr lang="en-IN" sz="1200" b="1" spc="-50" dirty="0">
                <a:solidFill>
                  <a:srgbClr val="888888"/>
                </a:solidFill>
                <a:latin typeface="Calibri"/>
                <a:cs typeface="Calibri"/>
              </a:rPr>
              <a:t>7</a:t>
            </a:r>
            <a:endParaRPr sz="1200" b="1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758</TotalTime>
  <Words>569</Words>
  <Application>Microsoft Office PowerPoint</Application>
  <PresentationFormat>On-screen Show (4:3)</PresentationFormat>
  <Paragraphs>84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Arial</vt:lpstr>
      <vt:lpstr>Calibri</vt:lpstr>
      <vt:lpstr>Times New Roman</vt:lpstr>
      <vt:lpstr>Office Theme</vt:lpstr>
      <vt:lpstr>    Project Presentation of Industry Oriented Hands on Experience (22CS422)</vt:lpstr>
      <vt:lpstr>Introduction</vt:lpstr>
      <vt:lpstr>Technology Stack</vt:lpstr>
      <vt:lpstr>Project Abstract</vt:lpstr>
      <vt:lpstr>Objectives</vt:lpstr>
      <vt:lpstr>Key Features</vt:lpstr>
      <vt:lpstr>  System Architecture</vt:lpstr>
      <vt:lpstr>     Data Flow Diagram</vt:lpstr>
      <vt:lpstr>Use Case Diagram</vt:lpstr>
      <vt:lpstr>Class Diagram</vt:lpstr>
      <vt:lpstr>PowerPoint Presentation</vt:lpstr>
      <vt:lpstr>Thank You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admin</dc:creator>
  <cp:lastModifiedBy>Windows User</cp:lastModifiedBy>
  <cp:revision>82</cp:revision>
  <dcterms:created xsi:type="dcterms:W3CDTF">2025-03-11T17:49:38Z</dcterms:created>
  <dcterms:modified xsi:type="dcterms:W3CDTF">2026-05-16T03:30:37Z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2025-03-11T00:00:00Z</vt:filetime>
  </property>
  <property fmtid="{D5CDD505-2E9C-101B-9397-08002B2CF9AE}" pid="3" name="Creator">
    <vt:lpwstr>Microsoft® PowerPoint® 2013</vt:lpwstr>
  </property>
  <property fmtid="{D5CDD505-2E9C-101B-9397-08002B2CF9AE}" pid="4" name="LastSaved">
    <vt:filetime>2025-03-11T00:00:00Z</vt:filetime>
  </property>
  <property fmtid="{D5CDD505-2E9C-101B-9397-08002B2CF9AE}" pid="5" name="Producer">
    <vt:lpwstr>Adobe PDF Library 25.1.204</vt:lpwstr>
  </property>
</Properties>
</file>