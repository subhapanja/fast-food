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079" y="1063625"/>
            <a:ext cx="65214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ubha1407.be22@chitkarauniversity.edu.in" TargetMode="External"/><Relationship Id="rId3" Type="http://schemas.openxmlformats.org/officeDocument/2006/relationships/hyperlink" Target="mailto:swati.goel@chitkara.edu.in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food-delivery-backend-5b6g.onrender.com/" TargetMode="External"/><Relationship Id="rId3" Type="http://schemas.openxmlformats.org/officeDocument/2006/relationships/hyperlink" Target="http://localhost:4000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Subhapanja@cluster0.zj08pgp.mongodb.net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CIE-</a:t>
            </a:r>
            <a:r>
              <a:rPr dirty="0" spc="-70"/>
              <a:t> </a:t>
            </a:r>
            <a:r>
              <a:rPr dirty="0"/>
              <a:t>COPYRIGHT</a:t>
            </a:r>
            <a:r>
              <a:rPr dirty="0" spc="-70"/>
              <a:t> </a:t>
            </a:r>
            <a:r>
              <a:rPr dirty="0" spc="-20"/>
              <a:t>INFORMATION</a:t>
            </a:r>
            <a:r>
              <a:rPr dirty="0" spc="-70"/>
              <a:t> </a:t>
            </a:r>
            <a:r>
              <a:rPr dirty="0"/>
              <a:t>EXTRACTION</a:t>
            </a:r>
            <a:r>
              <a:rPr dirty="0" spc="-70"/>
              <a:t> </a:t>
            </a:r>
            <a:r>
              <a:rPr dirty="0" spc="-20"/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724" y="1606550"/>
            <a:ext cx="3197225" cy="1389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latin typeface="Calibri"/>
                <a:cs typeface="Calibri"/>
              </a:rPr>
              <a:t>TITLE</a:t>
            </a:r>
            <a:r>
              <a:rPr dirty="0" sz="1100">
                <a:latin typeface="Calibri"/>
                <a:cs typeface="Calibri"/>
              </a:rPr>
              <a:t>: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Tomato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Food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Delivery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Website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1100" b="1">
                <a:latin typeface="Calibri"/>
                <a:cs typeface="Calibri"/>
              </a:rPr>
              <a:t>SCHOOL</a:t>
            </a:r>
            <a:r>
              <a:rPr dirty="0" sz="1100">
                <a:latin typeface="Calibri"/>
                <a:cs typeface="Calibri"/>
              </a:rPr>
              <a:t>:</a:t>
            </a:r>
            <a:r>
              <a:rPr dirty="0" sz="1100" spc="434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Chitkara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University,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Rajpura,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Punjab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Name</a:t>
            </a:r>
            <a:r>
              <a:rPr dirty="0" u="none" sz="1200" b="1">
                <a:latin typeface="Calibri"/>
                <a:cs typeface="Calibri"/>
              </a:rPr>
              <a:t>:</a:t>
            </a:r>
            <a:r>
              <a:rPr dirty="0" u="none" sz="1200" spc="200" b="1">
                <a:latin typeface="Calibri"/>
                <a:cs typeface="Calibri"/>
              </a:rPr>
              <a:t> </a:t>
            </a:r>
            <a:r>
              <a:rPr dirty="0" u="none" sz="1200">
                <a:latin typeface="Calibri"/>
                <a:cs typeface="Calibri"/>
              </a:rPr>
              <a:t>Subha</a:t>
            </a:r>
            <a:r>
              <a:rPr dirty="0" u="none" sz="1200" spc="-10">
                <a:latin typeface="Calibri"/>
                <a:cs typeface="Calibri"/>
              </a:rPr>
              <a:t> </a:t>
            </a:r>
            <a:r>
              <a:rPr dirty="0" u="none" sz="1200" spc="-20">
                <a:latin typeface="Calibri"/>
                <a:cs typeface="Calibri"/>
              </a:rPr>
              <a:t>Panja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u="sng" sz="1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Roll</a:t>
            </a:r>
            <a:r>
              <a:rPr dirty="0" u="sng" sz="11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dirty="0" u="none" sz="1100" b="1">
                <a:latin typeface="Calibri"/>
                <a:cs typeface="Calibri"/>
              </a:rPr>
              <a:t>:</a:t>
            </a:r>
            <a:r>
              <a:rPr dirty="0" u="none" sz="1100" spc="250" b="1">
                <a:latin typeface="Calibri"/>
                <a:cs typeface="Calibri"/>
              </a:rPr>
              <a:t> </a:t>
            </a:r>
            <a:r>
              <a:rPr dirty="0" u="none" sz="1200" spc="-10">
                <a:latin typeface="Calibri"/>
                <a:cs typeface="Calibri"/>
              </a:rPr>
              <a:t>2211981407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6354" y="3905313"/>
            <a:ext cx="12915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dirty="0" u="sng" sz="11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MEMBERS</a:t>
            </a:r>
            <a:r>
              <a:rPr dirty="0" u="sng" sz="11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1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DETAILS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2269" y="4324397"/>
            <a:ext cx="696595" cy="1282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5"/>
              </a:lnSpc>
            </a:pPr>
            <a:r>
              <a:rPr dirty="0" sz="1100" b="1">
                <a:latin typeface="Calibri"/>
                <a:cs typeface="Calibri"/>
              </a:rPr>
              <a:t>ROLL</a:t>
            </a:r>
            <a:r>
              <a:rPr dirty="0" sz="1100" spc="-60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NO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100" spc="-25">
                <a:latin typeface="Calibri"/>
                <a:cs typeface="Calibri"/>
              </a:rPr>
              <a:t>2211981407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949" y="4324397"/>
            <a:ext cx="795655" cy="2930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5"/>
              </a:lnSpc>
            </a:pPr>
            <a:r>
              <a:rPr dirty="0" sz="1100" spc="-20" b="1">
                <a:latin typeface="Calibri"/>
                <a:cs typeface="Calibri"/>
              </a:rPr>
              <a:t>NAME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100" b="1">
                <a:solidFill>
                  <a:srgbClr val="FF0000"/>
                </a:solidFill>
                <a:latin typeface="Calibri"/>
                <a:cs typeface="Calibri"/>
              </a:rPr>
              <a:t>Subha</a:t>
            </a:r>
            <a:r>
              <a:rPr dirty="0" sz="11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0000"/>
                </a:solidFill>
                <a:latin typeface="Calibri"/>
                <a:cs typeface="Calibri"/>
              </a:rPr>
              <a:t>Panja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100" spc="-50" b="1">
                <a:solidFill>
                  <a:srgbClr val="FF0000"/>
                </a:solidFill>
                <a:latin typeface="Calibri"/>
                <a:cs typeface="Calibri"/>
              </a:rPr>
              <a:t>Dr.</a:t>
            </a:r>
            <a:r>
              <a:rPr dirty="0" sz="11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FF0000"/>
                </a:solidFill>
                <a:latin typeface="Calibri"/>
                <a:cs typeface="Calibri"/>
              </a:rPr>
              <a:t>Swati</a:t>
            </a:r>
            <a:r>
              <a:rPr dirty="0" sz="1100" spc="-2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FF0000"/>
                </a:solidFill>
                <a:latin typeface="Calibri"/>
                <a:cs typeface="Calibri"/>
              </a:rPr>
              <a:t>Goel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6529" y="4324397"/>
            <a:ext cx="2835910" cy="34639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45"/>
              </a:lnSpc>
            </a:pPr>
            <a:r>
              <a:rPr dirty="0" sz="1100" spc="-10" b="1">
                <a:latin typeface="Calibri"/>
                <a:cs typeface="Calibri"/>
              </a:rPr>
              <a:t>ADDRESS</a:t>
            </a:r>
            <a:r>
              <a:rPr dirty="0" sz="1100" spc="-4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WITH</a:t>
            </a:r>
            <a:r>
              <a:rPr dirty="0" sz="1100" spc="-40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EMAIL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b="1">
                <a:latin typeface="Calibri"/>
                <a:cs typeface="Calibri"/>
              </a:rPr>
              <a:t>AND</a:t>
            </a:r>
            <a:r>
              <a:rPr dirty="0" sz="1100" spc="-25" b="1">
                <a:latin typeface="Calibri"/>
                <a:cs typeface="Calibri"/>
              </a:rPr>
              <a:t> </a:t>
            </a:r>
            <a:r>
              <a:rPr dirty="0" sz="1100" spc="-10" b="1">
                <a:latin typeface="Calibri"/>
                <a:cs typeface="Calibri"/>
              </a:rPr>
              <a:t>MOBILE</a:t>
            </a:r>
            <a:r>
              <a:rPr dirty="0" sz="1100" spc="-35" b="1">
                <a:latin typeface="Calibri"/>
                <a:cs typeface="Calibri"/>
              </a:rPr>
              <a:t> </a:t>
            </a:r>
            <a:r>
              <a:rPr dirty="0" sz="1100" spc="-25" b="1">
                <a:latin typeface="Calibri"/>
                <a:cs typeface="Calibri"/>
              </a:rPr>
              <a:t>NO.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00">
              <a:latin typeface="Calibri"/>
              <a:cs typeface="Calibri"/>
            </a:endParaRPr>
          </a:p>
          <a:p>
            <a:pPr marR="268605">
              <a:lnSpc>
                <a:spcPct val="221600"/>
              </a:lnSpc>
            </a:pPr>
            <a:r>
              <a:rPr dirty="0" sz="1100" spc="-10">
                <a:latin typeface="Calibri"/>
                <a:cs typeface="Calibri"/>
              </a:rPr>
              <a:t>Chitkara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University,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Patiala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National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Highway </a:t>
            </a:r>
            <a:r>
              <a:rPr dirty="0" sz="1100">
                <a:latin typeface="Calibri"/>
                <a:cs typeface="Calibri"/>
              </a:rPr>
              <a:t>District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Patiala,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Punjab,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India-140401</a:t>
            </a:r>
            <a:endParaRPr sz="1100">
              <a:latin typeface="Calibri"/>
              <a:cs typeface="Calibri"/>
            </a:endParaRPr>
          </a:p>
          <a:p>
            <a:pPr>
              <a:lnSpc>
                <a:spcPts val="2930"/>
              </a:lnSpc>
              <a:spcBef>
                <a:spcPts val="285"/>
              </a:spcBef>
            </a:pPr>
            <a:r>
              <a:rPr dirty="0" sz="1100">
                <a:latin typeface="Calibri"/>
                <a:cs typeface="Calibri"/>
              </a:rPr>
              <a:t>Email: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  <a:hlinkClick r:id="rId2"/>
              </a:rPr>
              <a:t>subha1407.be22@chitkarauniversity.edu.in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Mobile: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8597995868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Calibri"/>
              <a:cs typeface="Calibri"/>
            </a:endParaRPr>
          </a:p>
          <a:p>
            <a:pPr marR="268605">
              <a:lnSpc>
                <a:spcPct val="215899"/>
              </a:lnSpc>
              <a:spcBef>
                <a:spcPts val="5"/>
              </a:spcBef>
            </a:pPr>
            <a:r>
              <a:rPr dirty="0" sz="1100" spc="-10">
                <a:latin typeface="Calibri"/>
                <a:cs typeface="Calibri"/>
              </a:rPr>
              <a:t>Chitkara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University,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Patiala</a:t>
            </a:r>
            <a:r>
              <a:rPr dirty="0" sz="1100" spc="-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National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Highway </a:t>
            </a:r>
            <a:r>
              <a:rPr dirty="0" sz="1100">
                <a:latin typeface="Calibri"/>
                <a:cs typeface="Calibri"/>
              </a:rPr>
              <a:t>District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Patiala,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Punjab,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India-140401</a:t>
            </a:r>
            <a:endParaRPr sz="1100">
              <a:latin typeface="Calibri"/>
              <a:cs typeface="Calibri"/>
            </a:endParaRPr>
          </a:p>
          <a:p>
            <a:pPr marR="907415">
              <a:lnSpc>
                <a:spcPct val="193200"/>
              </a:lnSpc>
              <a:spcBef>
                <a:spcPts val="225"/>
              </a:spcBef>
            </a:pPr>
            <a:r>
              <a:rPr dirty="0" sz="1100">
                <a:latin typeface="Calibri"/>
                <a:cs typeface="Calibri"/>
              </a:rPr>
              <a:t>Email: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  <a:hlinkClick r:id="rId3"/>
              </a:rPr>
              <a:t>swati.goel@chitkara.edu.in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Mobile: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9530201003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2424" y="4276725"/>
            <a:ext cx="6858000" cy="3891915"/>
            <a:chOff x="352424" y="4276725"/>
            <a:chExt cx="6858000" cy="3891915"/>
          </a:xfrm>
        </p:grpSpPr>
        <p:sp>
          <p:nvSpPr>
            <p:cNvPr id="9" name="object 9"/>
            <p:cNvSpPr/>
            <p:nvPr/>
          </p:nvSpPr>
          <p:spPr>
            <a:xfrm>
              <a:off x="357174" y="4286262"/>
              <a:ext cx="6848475" cy="3872865"/>
            </a:xfrm>
            <a:custGeom>
              <a:avLst/>
              <a:gdLst/>
              <a:ahLst/>
              <a:cxnLst/>
              <a:rect l="l" t="t" r="r" b="b"/>
              <a:pathLst>
                <a:path w="6848475" h="3872865">
                  <a:moveTo>
                    <a:pt x="6848475" y="0"/>
                  </a:moveTo>
                  <a:lnTo>
                    <a:pt x="3304667" y="0"/>
                  </a:lnTo>
                  <a:lnTo>
                    <a:pt x="2080412" y="0"/>
                  </a:lnTo>
                  <a:lnTo>
                    <a:pt x="0" y="0"/>
                  </a:lnTo>
                  <a:lnTo>
                    <a:pt x="0" y="3872357"/>
                  </a:lnTo>
                  <a:lnTo>
                    <a:pt x="2080412" y="3872357"/>
                  </a:lnTo>
                  <a:lnTo>
                    <a:pt x="3304667" y="3872357"/>
                  </a:lnTo>
                  <a:lnTo>
                    <a:pt x="6848475" y="3872357"/>
                  </a:lnTo>
                  <a:lnTo>
                    <a:pt x="6848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2424" y="4281487"/>
              <a:ext cx="6858000" cy="3882390"/>
            </a:xfrm>
            <a:custGeom>
              <a:avLst/>
              <a:gdLst/>
              <a:ahLst/>
              <a:cxnLst/>
              <a:rect l="l" t="t" r="r" b="b"/>
              <a:pathLst>
                <a:path w="6858000" h="3882390">
                  <a:moveTo>
                    <a:pt x="4762" y="4762"/>
                  </a:moveTo>
                  <a:lnTo>
                    <a:pt x="4762" y="3877121"/>
                  </a:lnTo>
                </a:path>
                <a:path w="6858000" h="3882390">
                  <a:moveTo>
                    <a:pt x="2085165" y="4762"/>
                  </a:moveTo>
                  <a:lnTo>
                    <a:pt x="2085165" y="3877121"/>
                  </a:lnTo>
                </a:path>
                <a:path w="6858000" h="3882390">
                  <a:moveTo>
                    <a:pt x="3309425" y="4762"/>
                  </a:moveTo>
                  <a:lnTo>
                    <a:pt x="3309425" y="3877121"/>
                  </a:lnTo>
                </a:path>
                <a:path w="6858000" h="3882390">
                  <a:moveTo>
                    <a:pt x="6853236" y="4762"/>
                  </a:moveTo>
                  <a:lnTo>
                    <a:pt x="6853236" y="3877121"/>
                  </a:lnTo>
                </a:path>
                <a:path w="6858000" h="3882390">
                  <a:moveTo>
                    <a:pt x="0" y="0"/>
                  </a:moveTo>
                  <a:lnTo>
                    <a:pt x="6857999" y="0"/>
                  </a:lnTo>
                </a:path>
                <a:path w="6858000" h="3882390">
                  <a:moveTo>
                    <a:pt x="0" y="589805"/>
                  </a:moveTo>
                  <a:lnTo>
                    <a:pt x="6857999" y="589805"/>
                  </a:lnTo>
                </a:path>
                <a:path w="6858000" h="3882390">
                  <a:moveTo>
                    <a:pt x="0" y="2280642"/>
                  </a:moveTo>
                  <a:lnTo>
                    <a:pt x="6857999" y="2280642"/>
                  </a:lnTo>
                </a:path>
                <a:path w="6858000" h="3882390">
                  <a:moveTo>
                    <a:pt x="0" y="3881883"/>
                  </a:moveTo>
                  <a:lnTo>
                    <a:pt x="6857999" y="3881883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352424" y="8477249"/>
            <a:ext cx="35560" cy="9525"/>
          </a:xfrm>
          <a:custGeom>
            <a:avLst/>
            <a:gdLst/>
            <a:ahLst/>
            <a:cxnLst/>
            <a:rect l="l" t="t" r="r" b="b"/>
            <a:pathLst>
              <a:path w="35560" h="9525">
                <a:moveTo>
                  <a:pt x="34974" y="9524"/>
                </a:moveTo>
                <a:lnTo>
                  <a:pt x="0" y="9524"/>
                </a:lnTo>
                <a:lnTo>
                  <a:pt x="0" y="0"/>
                </a:lnTo>
                <a:lnTo>
                  <a:pt x="34974" y="0"/>
                </a:lnTo>
                <a:lnTo>
                  <a:pt x="349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445172" y="9398000"/>
            <a:ext cx="6737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470C3"/>
                </a:solidFill>
                <a:latin typeface="Calibri"/>
                <a:cs typeface="Calibri"/>
              </a:rPr>
              <a:t>ABSTRACT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724" y="303529"/>
            <a:ext cx="6837045" cy="30353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17200"/>
              </a:lnSpc>
              <a:spcBef>
                <a:spcPts val="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Tomato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Delivery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Website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simplify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main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objective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convenient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browse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restaurants,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quickly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efficiently.</a:t>
            </a:r>
            <a:endParaRPr sz="1200">
              <a:latin typeface="Times New Roman"/>
              <a:cs typeface="Times New Roman"/>
            </a:endParaRPr>
          </a:p>
          <a:p>
            <a:pPr marL="12700" marR="45720">
              <a:lnSpc>
                <a:spcPct val="116300"/>
              </a:lnSpc>
              <a:spcBef>
                <a:spcPts val="117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securely,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explore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categories,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add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easy-to-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interface.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tracking,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history,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options.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side,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items, </a:t>
            </a:r>
            <a:r>
              <a:rPr dirty="0" sz="1200">
                <a:latin typeface="Times New Roman"/>
                <a:cs typeface="Times New Roman"/>
              </a:rPr>
              <a:t>update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menus,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12700" marR="195580">
              <a:lnSpc>
                <a:spcPct val="117200"/>
              </a:lnSpc>
              <a:spcBef>
                <a:spcPts val="1240"/>
              </a:spcBef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Node.js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the </a:t>
            </a:r>
            <a:r>
              <a:rPr dirty="0" sz="1200" b="1">
                <a:latin typeface="Times New Roman"/>
                <a:cs typeface="Times New Roman"/>
              </a:rPr>
              <a:t>backend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be </a:t>
            </a:r>
            <a:r>
              <a:rPr dirty="0" sz="1200">
                <a:latin typeface="Times New Roman"/>
                <a:cs typeface="Times New Roman"/>
              </a:rPr>
              <a:t>responsive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easily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desktops,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tablets,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devices.</a:t>
            </a:r>
            <a:endParaRPr sz="1200">
              <a:latin typeface="Times New Roman"/>
              <a:cs typeface="Times New Roman"/>
            </a:endParaRPr>
          </a:p>
          <a:p>
            <a:pPr marL="12700" marR="259715">
              <a:lnSpc>
                <a:spcPct val="114599"/>
              </a:lnSpc>
              <a:spcBef>
                <a:spcPts val="120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Tomato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Website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convenience,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reduces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processing,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services.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724" y="3863975"/>
            <a:ext cx="6878320" cy="38087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150">
                <a:latin typeface="Times New Roman"/>
                <a:cs typeface="Times New Roman"/>
              </a:rPr>
              <a:t>  </a:t>
            </a:r>
            <a:r>
              <a:rPr dirty="0" sz="1200" spc="-10" b="1">
                <a:latin typeface="Times New Roman"/>
                <a:cs typeface="Times New Roman"/>
              </a:rPr>
              <a:t>Problem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Background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8100"/>
              </a:lnSpc>
              <a:spcBef>
                <a:spcPts val="1150"/>
              </a:spcBef>
            </a:pP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today’s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fast-</a:t>
            </a:r>
            <a:r>
              <a:rPr dirty="0" sz="1200">
                <a:latin typeface="Times New Roman"/>
                <a:cs typeface="Times New Roman"/>
              </a:rPr>
              <a:t>paced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lifestyle,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people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often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difficulties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cook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visit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order </a:t>
            </a:r>
            <a:r>
              <a:rPr dirty="0" sz="1200">
                <a:latin typeface="Times New Roman"/>
                <a:cs typeface="Times New Roman"/>
              </a:rPr>
              <a:t>food.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Traditional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physically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visit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through </a:t>
            </a:r>
            <a:r>
              <a:rPr dirty="0" sz="1200">
                <a:latin typeface="Times New Roman"/>
                <a:cs typeface="Times New Roman"/>
              </a:rPr>
              <a:t>phone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calls,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time-</a:t>
            </a:r>
            <a:r>
              <a:rPr dirty="0" sz="1200">
                <a:latin typeface="Times New Roman"/>
                <a:cs typeface="Times New Roman"/>
              </a:rPr>
              <a:t>consuming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inefficient.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problems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long </a:t>
            </a:r>
            <a:r>
              <a:rPr dirty="0" sz="1200">
                <a:latin typeface="Times New Roman"/>
                <a:cs typeface="Times New Roman"/>
              </a:rPr>
              <a:t>waiting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mistakes,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tracking.</a:t>
            </a:r>
            <a:endParaRPr sz="1200">
              <a:latin typeface="Times New Roman"/>
              <a:cs typeface="Times New Roman"/>
            </a:endParaRPr>
          </a:p>
          <a:p>
            <a:pPr marL="12700" marR="92710">
              <a:lnSpc>
                <a:spcPct val="117200"/>
              </a:lnSpc>
              <a:spcBef>
                <a:spcPts val="1160"/>
              </a:spcBef>
            </a:pPr>
            <a:r>
              <a:rPr dirty="0" sz="1200">
                <a:latin typeface="Times New Roman"/>
                <a:cs typeface="Times New Roman"/>
              </a:rPr>
              <a:t>Many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small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still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difficult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keep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25">
                <a:latin typeface="Times New Roman"/>
                <a:cs typeface="Times New Roman"/>
              </a:rPr>
              <a:t> of </a:t>
            </a:r>
            <a:r>
              <a:rPr dirty="0" sz="1200">
                <a:latin typeface="Times New Roman"/>
                <a:cs typeface="Times New Roman"/>
              </a:rPr>
              <a:t>customer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requests,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status,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records.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approach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customer </a:t>
            </a:r>
            <a:r>
              <a:rPr dirty="0" sz="1200">
                <a:latin typeface="Times New Roman"/>
                <a:cs typeface="Times New Roman"/>
              </a:rPr>
              <a:t>experience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operational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inefficiencies.</a:t>
            </a:r>
            <a:endParaRPr sz="1200">
              <a:latin typeface="Times New Roman"/>
              <a:cs typeface="Times New Roman"/>
            </a:endParaRPr>
          </a:p>
          <a:p>
            <a:pPr marL="12700" marR="108585">
              <a:lnSpc>
                <a:spcPct val="117200"/>
              </a:lnSpc>
              <a:spcBef>
                <a:spcPts val="1160"/>
              </a:spcBef>
            </a:pP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rapid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growth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internet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smartphones,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become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 </a:t>
            </a:r>
            <a:r>
              <a:rPr dirty="0" sz="1200">
                <a:latin typeface="Times New Roman"/>
                <a:cs typeface="Times New Roman"/>
              </a:rPr>
              <a:t>effective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problems.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easily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browse </a:t>
            </a:r>
            <a:r>
              <a:rPr dirty="0" sz="1200">
                <a:latin typeface="Times New Roman"/>
                <a:cs typeface="Times New Roman"/>
              </a:rPr>
              <a:t>menus,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deliveries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anywhere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 marL="12700" marR="74930">
              <a:lnSpc>
                <a:spcPct val="118100"/>
              </a:lnSpc>
              <a:spcBef>
                <a:spcPts val="115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Tomato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Delivery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Website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address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issues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centralized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platform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efficiently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reduce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accuracy,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convenient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user-</a:t>
            </a:r>
            <a:r>
              <a:rPr dirty="0" sz="1200">
                <a:latin typeface="Times New Roman"/>
                <a:cs typeface="Times New Roman"/>
              </a:rPr>
              <a:t>friendly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experience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both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administrators.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724" y="8188325"/>
            <a:ext cx="6818630" cy="2008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2286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16865" algn="l"/>
              </a:tabLst>
            </a:pPr>
            <a:r>
              <a:rPr dirty="0" sz="1200" b="1">
                <a:latin typeface="Times New Roman"/>
                <a:cs typeface="Times New Roman"/>
              </a:rPr>
              <a:t>Objective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Project</a:t>
            </a:r>
            <a:endParaRPr sz="1200">
              <a:latin typeface="Times New Roman"/>
              <a:cs typeface="Times New Roman"/>
            </a:endParaRPr>
          </a:p>
          <a:p>
            <a:pPr algn="just" marL="12700" marR="149860">
              <a:lnSpc>
                <a:spcPct val="117200"/>
              </a:lnSpc>
              <a:spcBef>
                <a:spcPts val="123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objective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Tomato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Delivery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Website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user-</a:t>
            </a:r>
            <a:r>
              <a:rPr dirty="0" sz="1200">
                <a:latin typeface="Times New Roman"/>
                <a:cs typeface="Times New Roman"/>
              </a:rPr>
              <a:t>friendly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online </a:t>
            </a:r>
            <a:r>
              <a:rPr dirty="0" sz="1200">
                <a:latin typeface="Times New Roman"/>
                <a:cs typeface="Times New Roman"/>
              </a:rPr>
              <a:t>platform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easily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effectively.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aims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simplify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overall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experience.</a:t>
            </a:r>
            <a:endParaRPr sz="1200">
              <a:latin typeface="Times New Roman"/>
              <a:cs typeface="Times New Roman"/>
            </a:endParaRPr>
          </a:p>
          <a:p>
            <a:pPr lvl="1" marL="316865" marR="246379" indent="-228600">
              <a:lnSpc>
                <a:spcPct val="114599"/>
              </a:lnSpc>
              <a:spcBef>
                <a:spcPts val="1200"/>
              </a:spcBef>
              <a:buFont typeface="Times New Roman"/>
              <a:buAutoNum type="alphaLcPeriod"/>
              <a:tabLst>
                <a:tab pos="316865" algn="l"/>
              </a:tabLst>
            </a:pPr>
            <a:r>
              <a:rPr dirty="0" sz="1200" b="1">
                <a:latin typeface="Times New Roman"/>
                <a:cs typeface="Times New Roman"/>
              </a:rPr>
              <a:t>Provide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Online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Ordering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Platform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browse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visiting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restaurant.</a:t>
            </a:r>
            <a:endParaRPr sz="1200">
              <a:latin typeface="Times New Roman"/>
              <a:cs typeface="Times New Roman"/>
            </a:endParaRPr>
          </a:p>
          <a:p>
            <a:pPr lvl="1" marL="316865" marR="5080" indent="-228600">
              <a:lnSpc>
                <a:spcPct val="114599"/>
              </a:lnSpc>
              <a:spcBef>
                <a:spcPts val="75"/>
              </a:spcBef>
              <a:buFont typeface="Times New Roman"/>
              <a:buAutoNum type="alphaLcPeriod"/>
              <a:tabLst>
                <a:tab pos="316865" algn="l"/>
              </a:tabLst>
            </a:pPr>
            <a:r>
              <a:rPr dirty="0" sz="1200" spc="-20" b="1">
                <a:latin typeface="Times New Roman"/>
                <a:cs typeface="Times New Roman"/>
              </a:rPr>
              <a:t>User-</a:t>
            </a:r>
            <a:r>
              <a:rPr dirty="0" sz="1200" b="1">
                <a:latin typeface="Times New Roman"/>
                <a:cs typeface="Times New Roman"/>
              </a:rPr>
              <a:t>Friendly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Interface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interface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easily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navigate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items.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303529"/>
            <a:ext cx="6735445" cy="2159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marR="57785" indent="-228600">
              <a:lnSpc>
                <a:spcPct val="114599"/>
              </a:lnSpc>
              <a:spcBef>
                <a:spcPts val="100"/>
              </a:spcBef>
              <a:buFont typeface="Times New Roman"/>
              <a:buAutoNum type="alphaLcPeriod" startAt="3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Efficient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Order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Management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update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menus,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 </a:t>
            </a:r>
            <a:r>
              <a:rPr dirty="0" sz="1200">
                <a:latin typeface="Times New Roman"/>
                <a:cs typeface="Times New Roman"/>
              </a:rPr>
              <a:t>customer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efficiently.</a:t>
            </a:r>
            <a:endParaRPr sz="1200">
              <a:latin typeface="Times New Roman"/>
              <a:cs typeface="Times New Roman"/>
            </a:endParaRPr>
          </a:p>
          <a:p>
            <a:pPr marL="240665" marR="304800" indent="-228600">
              <a:lnSpc>
                <a:spcPct val="114599"/>
              </a:lnSpc>
              <a:spcBef>
                <a:spcPts val="75"/>
              </a:spcBef>
              <a:buFont typeface="Times New Roman"/>
              <a:buAutoNum type="alphaLcPeriod" startAt="3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Cart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Payment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System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enable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multiple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order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secure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payment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checkout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240665" marR="334010" indent="-228600">
              <a:lnSpc>
                <a:spcPct val="114599"/>
              </a:lnSpc>
              <a:spcBef>
                <a:spcPts val="75"/>
              </a:spcBef>
              <a:buFont typeface="Times New Roman"/>
              <a:buAutoNum type="alphaLcPeriod" startAt="3"/>
              <a:tabLst>
                <a:tab pos="2406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Order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Tracking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History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their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history.</a:t>
            </a:r>
            <a:endParaRPr sz="1200">
              <a:latin typeface="Times New Roman"/>
              <a:cs typeface="Times New Roman"/>
            </a:endParaRPr>
          </a:p>
          <a:p>
            <a:pPr marL="240665" marR="5080" indent="-228600">
              <a:lnSpc>
                <a:spcPts val="1730"/>
              </a:lnSpc>
              <a:spcBef>
                <a:spcPts val="25"/>
              </a:spcBef>
              <a:buFont typeface="Times New Roman"/>
              <a:buAutoNum type="alphaLcPeriod" startAt="3"/>
              <a:tabLst>
                <a:tab pos="240665" algn="l"/>
              </a:tabLst>
            </a:pPr>
            <a:r>
              <a:rPr dirty="0" sz="1200" b="1">
                <a:latin typeface="Times New Roman"/>
                <a:cs typeface="Times New Roman"/>
              </a:rPr>
              <a:t>Responsive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Web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Design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smoothly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desktops, </a:t>
            </a:r>
            <a:r>
              <a:rPr dirty="0" sz="1200">
                <a:latin typeface="Times New Roman"/>
                <a:cs typeface="Times New Roman"/>
              </a:rPr>
              <a:t>tablets,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smartphones.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Times New Roman"/>
              <a:buAutoNum type="alphaLcPeriod" startAt="3"/>
              <a:tabLst>
                <a:tab pos="241300" algn="l"/>
              </a:tabLst>
            </a:pPr>
            <a:r>
              <a:rPr dirty="0" sz="1200" b="1">
                <a:latin typeface="Times New Roman"/>
                <a:cs typeface="Times New Roman"/>
              </a:rPr>
              <a:t>Improve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Restaurant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Efficiency</a:t>
            </a:r>
            <a:r>
              <a:rPr dirty="0" sz="1200" spc="-1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digitally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reduce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manual</a:t>
            </a:r>
            <a:endParaRPr sz="12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284"/>
              </a:spcBef>
            </a:pPr>
            <a:r>
              <a:rPr dirty="0" sz="1200" spc="-10">
                <a:latin typeface="Times New Roman"/>
                <a:cs typeface="Times New Roman"/>
              </a:rPr>
              <a:t>errors.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724" y="3349625"/>
            <a:ext cx="6704965" cy="157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140">
                <a:latin typeface="Times New Roman"/>
                <a:cs typeface="Times New Roman"/>
              </a:rPr>
              <a:t>  </a:t>
            </a:r>
            <a:r>
              <a:rPr dirty="0" sz="1200" b="1">
                <a:latin typeface="Times New Roman"/>
                <a:cs typeface="Times New Roman"/>
              </a:rPr>
              <a:t>Proposed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Solution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Overview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6300"/>
              </a:lnSpc>
              <a:spcBef>
                <a:spcPts val="117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proposed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Tomato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Delivery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Website</a:t>
            </a:r>
            <a:r>
              <a:rPr dirty="0" sz="1200" spc="-1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that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online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way.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digital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platform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where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browse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menus,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visiting </a:t>
            </a:r>
            <a:r>
              <a:rPr dirty="0" sz="1200">
                <a:latin typeface="Times New Roman"/>
                <a:cs typeface="Times New Roman"/>
              </a:rPr>
              <a:t>them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physically.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consists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two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modules: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User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Module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Admin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Module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724" y="5454649"/>
            <a:ext cx="6678295" cy="2370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a.</a:t>
            </a:r>
            <a:r>
              <a:rPr dirty="0" sz="1200" spc="210">
                <a:solidFill>
                  <a:srgbClr val="243F60"/>
                </a:solidFill>
                <a:latin typeface="Cambria"/>
                <a:cs typeface="Cambria"/>
              </a:rPr>
              <a:t> 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User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Module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6300"/>
              </a:lnSpc>
              <a:spcBef>
                <a:spcPts val="117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module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securely, </a:t>
            </a:r>
            <a:r>
              <a:rPr dirty="0" sz="1200">
                <a:latin typeface="Times New Roman"/>
                <a:cs typeface="Times New Roman"/>
              </a:rPr>
              <a:t>browse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available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cart.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desired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users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history.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responsive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interface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users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phones,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tablets,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computers.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a.</a:t>
            </a:r>
            <a:r>
              <a:rPr dirty="0" sz="1200" spc="195">
                <a:solidFill>
                  <a:srgbClr val="243F60"/>
                </a:solidFill>
                <a:latin typeface="Cambria"/>
                <a:cs typeface="Cambria"/>
              </a:rPr>
              <a:t> 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Admin</a:t>
            </a:r>
            <a:r>
              <a:rPr dirty="0" sz="1200" spc="-1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Module</a:t>
            </a:r>
            <a:endParaRPr sz="1200">
              <a:latin typeface="Cambria"/>
              <a:cs typeface="Cambria"/>
            </a:endParaRPr>
          </a:p>
          <a:p>
            <a:pPr marL="12700" marR="116839">
              <a:lnSpc>
                <a:spcPct val="117200"/>
              </a:lnSpc>
              <a:spcBef>
                <a:spcPts val="11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module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update </a:t>
            </a:r>
            <a:r>
              <a:rPr dirty="0" sz="1200">
                <a:latin typeface="Times New Roman"/>
                <a:cs typeface="Times New Roman"/>
              </a:rPr>
              <a:t>menus,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that </a:t>
            </a:r>
            <a:r>
              <a:rPr dirty="0" sz="1200">
                <a:latin typeface="Times New Roman"/>
                <a:cs typeface="Times New Roman"/>
              </a:rPr>
              <a:t>deliveries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efficiently.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724" y="8350250"/>
            <a:ext cx="6802755" cy="178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a.</a:t>
            </a:r>
            <a:r>
              <a:rPr dirty="0" sz="1200" spc="204">
                <a:solidFill>
                  <a:srgbClr val="243F60"/>
                </a:solidFill>
                <a:latin typeface="Cambria"/>
                <a:cs typeface="Cambria"/>
              </a:rPr>
              <a:t> 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System</a:t>
            </a:r>
            <a:r>
              <a:rPr dirty="0" sz="1200" spc="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Benefits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7200"/>
              </a:lnSpc>
              <a:spcBef>
                <a:spcPts val="11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proposed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reducing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manual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improving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overall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efficiency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delivery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services.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fast,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reliable,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convenient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allowing </a:t>
            </a:r>
            <a:r>
              <a:rPr dirty="0" sz="1200">
                <a:latin typeface="Times New Roman"/>
                <a:cs typeface="Times New Roman"/>
              </a:rPr>
              <a:t>restaurants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digitally.</a:t>
            </a:r>
            <a:endParaRPr sz="1200">
              <a:latin typeface="Times New Roman"/>
              <a:cs typeface="Times New Roman"/>
            </a:endParaRPr>
          </a:p>
          <a:p>
            <a:pPr marL="12700" marR="206375">
              <a:lnSpc>
                <a:spcPct val="117200"/>
              </a:lnSpc>
              <a:spcBef>
                <a:spcPts val="116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React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frontend,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Node.js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backend </a:t>
            </a:r>
            <a:r>
              <a:rPr dirty="0" sz="1200" b="1">
                <a:latin typeface="Times New Roman"/>
                <a:cs typeface="Times New Roman"/>
              </a:rPr>
              <a:t>services,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database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to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store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user,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order,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product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information</a:t>
            </a:r>
            <a:r>
              <a:rPr dirty="0" sz="1200" spc="-10">
                <a:latin typeface="Times New Roman"/>
                <a:cs typeface="Times New Roman"/>
              </a:rPr>
              <a:t>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architecture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ensures scalability,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security,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better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performance.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724" y="692150"/>
            <a:ext cx="6877684" cy="739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2286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16865" algn="l"/>
              </a:tabLst>
            </a:pPr>
            <a:r>
              <a:rPr dirty="0" sz="1200" b="1">
                <a:latin typeface="Times New Roman"/>
                <a:cs typeface="Times New Roman"/>
              </a:rPr>
              <a:t>Key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Features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or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Functionality</a:t>
            </a:r>
            <a:endParaRPr sz="1200">
              <a:latin typeface="Times New Roman"/>
              <a:cs typeface="Times New Roman"/>
            </a:endParaRPr>
          </a:p>
          <a:p>
            <a:pPr marL="12700" marR="323850">
              <a:lnSpc>
                <a:spcPct val="117200"/>
              </a:lnSpc>
              <a:spcBef>
                <a:spcPts val="123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Tomato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Delivery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Website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several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efficient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user-friendly.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easily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administrators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platform effectively.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350520" indent="-262255">
              <a:lnSpc>
                <a:spcPct val="100000"/>
              </a:lnSpc>
              <a:buAutoNum type="alphaLcPeriod"/>
              <a:tabLst>
                <a:tab pos="350520" algn="l"/>
              </a:tabLst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User</a:t>
            </a:r>
            <a:r>
              <a:rPr dirty="0" sz="1200" spc="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Registration</a:t>
            </a:r>
            <a:r>
              <a:rPr dirty="0" sz="1200" spc="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and</a:t>
            </a:r>
            <a:r>
              <a:rPr dirty="0" sz="1200" spc="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Login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9800"/>
              </a:lnSpc>
              <a:spcBef>
                <a:spcPts val="105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new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basic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name,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email,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password. </a:t>
            </a:r>
            <a:r>
              <a:rPr dirty="0" sz="1200">
                <a:latin typeface="Times New Roman"/>
                <a:cs typeface="Times New Roman"/>
              </a:rPr>
              <a:t>Registered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securely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orders.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350520" indent="-262255">
              <a:lnSpc>
                <a:spcPct val="100000"/>
              </a:lnSpc>
              <a:buAutoNum type="alphaLcPeriod"/>
              <a:tabLst>
                <a:tab pos="350520" algn="l"/>
              </a:tabLst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Food</a:t>
            </a:r>
            <a:r>
              <a:rPr dirty="0" sz="1200" spc="-4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Menu</a:t>
            </a:r>
            <a:r>
              <a:rPr dirty="0" sz="1200" spc="-4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Browsing</a:t>
            </a:r>
            <a:endParaRPr sz="1200">
              <a:latin typeface="Cambria"/>
              <a:cs typeface="Cambria"/>
            </a:endParaRPr>
          </a:p>
          <a:p>
            <a:pPr marL="12700" marR="20320">
              <a:lnSpc>
                <a:spcPct val="114599"/>
              </a:lnSpc>
              <a:spcBef>
                <a:spcPts val="1200"/>
              </a:spcBef>
            </a:pP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browse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categories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available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description,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images.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easily.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350520" indent="-262255">
              <a:lnSpc>
                <a:spcPct val="100000"/>
              </a:lnSpc>
              <a:buAutoNum type="alphaLcPeriod"/>
              <a:tabLst>
                <a:tab pos="350520" algn="l"/>
              </a:tabLst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Add</a:t>
            </a:r>
            <a:r>
              <a:rPr dirty="0" sz="1200" spc="-20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to</a:t>
            </a:r>
            <a:r>
              <a:rPr dirty="0" sz="1200" spc="-1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20">
                <a:solidFill>
                  <a:srgbClr val="243F60"/>
                </a:solidFill>
                <a:latin typeface="Cambria"/>
                <a:cs typeface="Cambria"/>
              </a:rPr>
              <a:t>Cart</a:t>
            </a:r>
            <a:endParaRPr sz="1200">
              <a:latin typeface="Cambria"/>
              <a:cs typeface="Cambria"/>
            </a:endParaRPr>
          </a:p>
          <a:p>
            <a:pPr marL="12700" marR="127000">
              <a:lnSpc>
                <a:spcPct val="114599"/>
              </a:lnSpc>
              <a:spcBef>
                <a:spcPts val="1200"/>
              </a:spcBef>
            </a:pP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shopping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cart.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displays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list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quantity,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total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before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order.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350520" indent="-262255">
              <a:lnSpc>
                <a:spcPct val="100000"/>
              </a:lnSpc>
              <a:buAutoNum type="alphaLcPeriod"/>
              <a:tabLst>
                <a:tab pos="350520" algn="l"/>
              </a:tabLst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Order</a:t>
            </a:r>
            <a:r>
              <a:rPr dirty="0" sz="1200" spc="-5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Placement</a:t>
            </a:r>
            <a:endParaRPr sz="1200">
              <a:latin typeface="Cambria"/>
              <a:cs typeface="Cambria"/>
            </a:endParaRPr>
          </a:p>
          <a:p>
            <a:pPr marL="12700" marR="12065">
              <a:lnSpc>
                <a:spcPct val="114599"/>
              </a:lnSpc>
              <a:spcBef>
                <a:spcPts val="1200"/>
              </a:spcBef>
            </a:pP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selecting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confirming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order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delivery.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imes New Roman"/>
              <a:cs typeface="Times New Roman"/>
            </a:endParaRPr>
          </a:p>
          <a:p>
            <a:pPr marL="315595" indent="-227329">
              <a:lnSpc>
                <a:spcPct val="100000"/>
              </a:lnSpc>
              <a:buAutoNum type="alphaLcPeriod"/>
              <a:tabLst>
                <a:tab pos="315595" algn="l"/>
              </a:tabLst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Order</a:t>
            </a:r>
            <a:r>
              <a:rPr dirty="0" sz="1200" spc="-5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History</a:t>
            </a:r>
            <a:endParaRPr sz="1200">
              <a:latin typeface="Cambria"/>
              <a:cs typeface="Cambria"/>
            </a:endParaRPr>
          </a:p>
          <a:p>
            <a:pPr marL="12700" marR="176530">
              <a:lnSpc>
                <a:spcPct val="114599"/>
              </a:lnSpc>
              <a:spcBef>
                <a:spcPts val="112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their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past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purchases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easily.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imes New Roman"/>
              <a:cs typeface="Times New Roman"/>
            </a:endParaRPr>
          </a:p>
          <a:p>
            <a:pPr marL="350520" indent="-262255">
              <a:lnSpc>
                <a:spcPct val="100000"/>
              </a:lnSpc>
              <a:buAutoNum type="alphaLcPeriod"/>
              <a:tabLst>
                <a:tab pos="350520" algn="l"/>
              </a:tabLst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Admin</a:t>
            </a:r>
            <a:r>
              <a:rPr dirty="0" sz="1200" spc="-4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Management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admin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customers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deliveries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efficiently.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imes New Roman"/>
              <a:cs typeface="Times New Roman"/>
            </a:endParaRPr>
          </a:p>
          <a:p>
            <a:pPr marL="350520" indent="-262255">
              <a:lnSpc>
                <a:spcPct val="100000"/>
              </a:lnSpc>
              <a:buAutoNum type="alphaLcPeriod"/>
              <a:tabLst>
                <a:tab pos="350520" algn="l"/>
              </a:tabLst>
            </a:pP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Responsive</a:t>
            </a:r>
            <a:r>
              <a:rPr dirty="0" sz="1200" spc="-30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Design</a:t>
            </a:r>
            <a:endParaRPr sz="1200">
              <a:latin typeface="Cambria"/>
              <a:cs typeface="Cambria"/>
            </a:endParaRPr>
          </a:p>
          <a:p>
            <a:pPr marL="12700" marR="243840">
              <a:lnSpc>
                <a:spcPct val="114599"/>
              </a:lnSpc>
              <a:spcBef>
                <a:spcPts val="112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smoothly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desktops,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tablets,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phones, </a:t>
            </a:r>
            <a:r>
              <a:rPr dirty="0" sz="1200">
                <a:latin typeface="Times New Roman"/>
                <a:cs typeface="Times New Roman"/>
              </a:rPr>
              <a:t>ensuring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better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experience.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724" y="8616950"/>
            <a:ext cx="6811645" cy="137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6865" indent="-22860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316865" algn="l"/>
              </a:tabLst>
            </a:pPr>
            <a:r>
              <a:rPr dirty="0" sz="1200" spc="-20" b="1">
                <a:latin typeface="Times New Roman"/>
                <a:cs typeface="Times New Roman"/>
              </a:rPr>
              <a:t>Technology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Method</a:t>
            </a:r>
            <a:r>
              <a:rPr dirty="0" sz="1200" spc="-20" b="1">
                <a:latin typeface="Times New Roman"/>
                <a:cs typeface="Times New Roman"/>
              </a:rPr>
              <a:t> Used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  <a:spcBef>
                <a:spcPts val="1275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Tomato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Food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Delivery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Website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technologies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ensure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efficiency, scalability,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smooth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10">
                <a:latin typeface="Times New Roman"/>
                <a:cs typeface="Times New Roman"/>
              </a:rPr>
              <a:t> experience.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follows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full-stack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web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development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approach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where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handles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storage.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350520" indent="-262255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350520" algn="l"/>
              </a:tabLst>
            </a:pP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Frontend</a:t>
            </a:r>
            <a:r>
              <a:rPr dirty="0" sz="1200" spc="-1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Technologies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058" y="5005958"/>
            <a:ext cx="65531" cy="65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058" y="5225033"/>
            <a:ext cx="65531" cy="655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058" y="5434583"/>
            <a:ext cx="65531" cy="655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9724" y="303529"/>
            <a:ext cx="6842759" cy="640715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17780">
              <a:lnSpc>
                <a:spcPct val="117200"/>
              </a:lnSpc>
              <a:spcBef>
                <a:spcPts val="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React.js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helps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dynamic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interactive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user </a:t>
            </a:r>
            <a:r>
              <a:rPr dirty="0" sz="1200">
                <a:latin typeface="Times New Roman"/>
                <a:cs typeface="Times New Roman"/>
              </a:rPr>
              <a:t>interface.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HTML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layout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website,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JavaScript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handle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interactions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adding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navigating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between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tabLst>
                <a:tab pos="350520" algn="l"/>
              </a:tabLst>
            </a:pPr>
            <a:r>
              <a:rPr dirty="0" sz="1200" spc="-25">
                <a:solidFill>
                  <a:srgbClr val="243F60"/>
                </a:solidFill>
                <a:latin typeface="Cambria"/>
                <a:cs typeface="Cambria"/>
              </a:rPr>
              <a:t>a.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	Backend</a:t>
            </a:r>
            <a:r>
              <a:rPr dirty="0" sz="1200" spc="-4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Technologies</a:t>
            </a:r>
            <a:endParaRPr sz="1200">
              <a:latin typeface="Cambria"/>
              <a:cs typeface="Cambria"/>
            </a:endParaRPr>
          </a:p>
          <a:p>
            <a:pPr marL="12700" marR="5080">
              <a:lnSpc>
                <a:spcPct val="114599"/>
              </a:lnSpc>
              <a:spcBef>
                <a:spcPts val="120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implemented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Node.js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Express.js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handle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server-</a:t>
            </a:r>
            <a:r>
              <a:rPr dirty="0" sz="1200">
                <a:latin typeface="Times New Roman"/>
                <a:cs typeface="Times New Roman"/>
              </a:rPr>
              <a:t>side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logic,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authentication,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communication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between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requests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login,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ordering,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management.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tabLst>
                <a:tab pos="350520" algn="l"/>
              </a:tabLst>
            </a:pPr>
            <a:r>
              <a:rPr dirty="0" sz="1200" spc="-25">
                <a:solidFill>
                  <a:srgbClr val="243F60"/>
                </a:solidFill>
                <a:latin typeface="Cambria"/>
                <a:cs typeface="Cambria"/>
              </a:rPr>
              <a:t>a.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	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Database</a:t>
            </a:r>
            <a:endParaRPr sz="1200">
              <a:latin typeface="Cambria"/>
              <a:cs typeface="Cambria"/>
            </a:endParaRPr>
          </a:p>
          <a:p>
            <a:pPr marL="12700" marR="36195">
              <a:lnSpc>
                <a:spcPct val="119800"/>
              </a:lnSpc>
              <a:spcBef>
                <a:spcPts val="1050"/>
              </a:spcBef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MongoDB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keeps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records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transaction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details.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tabLst>
                <a:tab pos="350520" algn="l"/>
              </a:tabLst>
            </a:pPr>
            <a:r>
              <a:rPr dirty="0" sz="1200" spc="-25">
                <a:solidFill>
                  <a:srgbClr val="243F60"/>
                </a:solidFill>
                <a:latin typeface="Cambria"/>
                <a:cs typeface="Cambria"/>
              </a:rPr>
              <a:t>a.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	API</a:t>
            </a:r>
            <a:r>
              <a:rPr dirty="0" sz="1200" spc="-20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10">
                <a:solidFill>
                  <a:srgbClr val="243F60"/>
                </a:solidFill>
                <a:latin typeface="Cambria"/>
                <a:cs typeface="Cambria"/>
              </a:rPr>
              <a:t>Integration</a:t>
            </a:r>
            <a:endParaRPr sz="1200">
              <a:latin typeface="Cambria"/>
              <a:cs typeface="Cambria"/>
            </a:endParaRPr>
          </a:p>
          <a:p>
            <a:pPr marL="12700" marR="215265">
              <a:lnSpc>
                <a:spcPct val="119800"/>
              </a:lnSpc>
              <a:spcBef>
                <a:spcPts val="1050"/>
              </a:spcBef>
            </a:pPr>
            <a:r>
              <a:rPr dirty="0" sz="1200" spc="-10">
                <a:latin typeface="Times New Roman"/>
                <a:cs typeface="Times New Roman"/>
              </a:rPr>
              <a:t>RESTful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connect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frontend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backend.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receive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data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menu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items,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details,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e.</a:t>
            </a:r>
            <a:r>
              <a:rPr dirty="0" sz="1200" spc="47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Development</a:t>
            </a:r>
            <a:r>
              <a:rPr dirty="0" sz="1200" spc="-1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20">
                <a:solidFill>
                  <a:srgbClr val="243F60"/>
                </a:solidFill>
                <a:latin typeface="Cambria"/>
                <a:cs typeface="Cambria"/>
              </a:rPr>
              <a:t>Tools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200" spc="-20">
                <a:latin typeface="Times New Roman"/>
                <a:cs typeface="Times New Roman"/>
              </a:rPr>
              <a:t>Various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including: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Visual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Studio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Code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coding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210"/>
              </a:spcBef>
            </a:pPr>
            <a:r>
              <a:rPr dirty="0" sz="1200" b="1">
                <a:latin typeface="Times New Roman"/>
                <a:cs typeface="Times New Roman"/>
              </a:rPr>
              <a:t>Git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GitHub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management</a:t>
            </a:r>
            <a:endParaRPr sz="12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285"/>
              </a:spcBef>
            </a:pPr>
            <a:r>
              <a:rPr dirty="0" sz="1200" b="1">
                <a:latin typeface="Times New Roman"/>
                <a:cs typeface="Times New Roman"/>
              </a:rPr>
              <a:t>Node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Package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Manager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(NPM)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installing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dependencies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f.</a:t>
            </a:r>
            <a:r>
              <a:rPr dirty="0" sz="1200" spc="125">
                <a:solidFill>
                  <a:srgbClr val="243F60"/>
                </a:solidFill>
                <a:latin typeface="Cambria"/>
                <a:cs typeface="Cambria"/>
              </a:rPr>
              <a:t>  </a:t>
            </a:r>
            <a:r>
              <a:rPr dirty="0" sz="1200">
                <a:solidFill>
                  <a:srgbClr val="243F60"/>
                </a:solidFill>
                <a:latin typeface="Cambria"/>
                <a:cs typeface="Cambria"/>
              </a:rPr>
              <a:t>Method</a:t>
            </a:r>
            <a:r>
              <a:rPr dirty="0" sz="1200" spc="5">
                <a:solidFill>
                  <a:srgbClr val="243F60"/>
                </a:solidFill>
                <a:latin typeface="Cambria"/>
                <a:cs typeface="Cambria"/>
              </a:rPr>
              <a:t> </a:t>
            </a:r>
            <a:r>
              <a:rPr dirty="0" sz="1200" spc="-20">
                <a:solidFill>
                  <a:srgbClr val="243F60"/>
                </a:solidFill>
                <a:latin typeface="Cambria"/>
                <a:cs typeface="Cambria"/>
              </a:rPr>
              <a:t>Used</a:t>
            </a:r>
            <a:endParaRPr sz="1200">
              <a:latin typeface="Cambria"/>
              <a:cs typeface="Cambria"/>
            </a:endParaRPr>
          </a:p>
          <a:p>
            <a:pPr marL="12700" marR="27305">
              <a:lnSpc>
                <a:spcPct val="117200"/>
              </a:lnSpc>
              <a:spcBef>
                <a:spcPts val="116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follows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modular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development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approach</a:t>
            </a:r>
            <a:r>
              <a:rPr dirty="0" sz="1200">
                <a:latin typeface="Times New Roman"/>
                <a:cs typeface="Times New Roman"/>
              </a:rPr>
              <a:t>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divided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modules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menu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management,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order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processing.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easier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maintain,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upgrade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future.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058" y="7377683"/>
            <a:ext cx="65531" cy="655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4524" y="7194791"/>
            <a:ext cx="1312545" cy="53530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600" spc="-10" b="1">
                <a:latin typeface="Times New Roman"/>
                <a:cs typeface="Times New Roman"/>
              </a:rPr>
              <a:t>Design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200" b="1">
                <a:latin typeface="Times New Roman"/>
                <a:cs typeface="Times New Roman"/>
              </a:rPr>
              <a:t>Data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Flow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Diagram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058" y="7615808"/>
            <a:ext cx="65531" cy="65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180" y="434710"/>
            <a:ext cx="5865774" cy="577173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52424" y="6791325"/>
            <a:ext cx="331470" cy="331470"/>
          </a:xfrm>
          <a:custGeom>
            <a:avLst/>
            <a:gdLst/>
            <a:ahLst/>
            <a:cxnLst/>
            <a:rect l="l" t="t" r="r" b="b"/>
            <a:pathLst>
              <a:path w="331470" h="331470">
                <a:moveTo>
                  <a:pt x="0" y="0"/>
                </a:moveTo>
                <a:lnTo>
                  <a:pt x="331004" y="0"/>
                </a:lnTo>
                <a:lnTo>
                  <a:pt x="331004" y="331004"/>
                </a:lnTo>
                <a:lnTo>
                  <a:pt x="0" y="331004"/>
                </a:lnTo>
                <a:lnTo>
                  <a:pt x="0" y="0"/>
                </a:lnTo>
                <a:close/>
              </a:path>
            </a:pathLst>
          </a:custGeom>
          <a:ln w="517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058" y="7844408"/>
            <a:ext cx="65531" cy="655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4524" y="7708931"/>
            <a:ext cx="16954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Use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Case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Diagram: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352425"/>
            <a:ext cx="6115049" cy="72199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058" y="9349358"/>
            <a:ext cx="65531" cy="655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524" y="9172637"/>
            <a:ext cx="1711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Class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Diagram: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352425"/>
            <a:ext cx="6219824" cy="42195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5925" y="7946519"/>
            <a:ext cx="1217930" cy="63627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000">
                <a:latin typeface="Times New Roman"/>
                <a:cs typeface="Times New Roman"/>
              </a:rPr>
              <a:t>1.</a:t>
            </a:r>
            <a:r>
              <a:rPr dirty="0" sz="2000" spc="49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Coding: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385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App.jsx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925" y="9081769"/>
            <a:ext cx="3994150" cy="11112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React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"react"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Navbar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"./components/Navbar/Navbar"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Sidebar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"./components/Sidebar/Sidebar"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{ Route, Routes }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"react-router-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dom"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Add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"./pages/Add/Add"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List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"./pages/List/List"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299720"/>
            <a:ext cx="5166360" cy="50393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265"/>
              </a:spcBef>
              <a:buAutoNum type="alphaLcPeriod" startAt="7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Orders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"./pages/Orders/Orders"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 startAt="7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{ ToastContainer }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"react-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toastify"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 startAt="7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"react-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toastify/dist/ReactToastify.css"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 startAt="7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Login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"./components/Login/Login"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15"/>
              </a:spcBef>
            </a:pPr>
            <a:r>
              <a:rPr dirty="0" sz="1200" spc="-25">
                <a:latin typeface="Arial"/>
                <a:cs typeface="Arial"/>
              </a:rPr>
              <a:t>k.</a:t>
            </a:r>
            <a:endParaRPr sz="1200">
              <a:latin typeface="Arial"/>
              <a:cs typeface="Arial"/>
            </a:endParaRPr>
          </a:p>
          <a:p>
            <a:pPr marL="240029" indent="-227329">
              <a:lnSpc>
                <a:spcPts val="1215"/>
              </a:lnSpc>
              <a:buAutoNum type="alphaLcPeriod" startAt="12"/>
              <a:tabLst>
                <a:tab pos="240029" algn="l"/>
              </a:tabLst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const 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App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() 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=&gt; </a:t>
            </a:r>
            <a:r>
              <a:rPr dirty="0" sz="1050" spc="-50">
                <a:solidFill>
                  <a:srgbClr val="C8D0D9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87985" indent="-37528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387985" algn="l"/>
              </a:tabLst>
            </a:pPr>
            <a:r>
              <a:rPr dirty="0" sz="1050">
                <a:solidFill>
                  <a:srgbClr val="8B949D"/>
                </a:solidFill>
                <a:latin typeface="Consolas"/>
                <a:cs typeface="Consolas"/>
              </a:rPr>
              <a:t>// const url = </a:t>
            </a:r>
            <a:r>
              <a:rPr dirty="0" sz="1050">
                <a:solidFill>
                  <a:srgbClr val="8B949D"/>
                </a:solidFill>
                <a:latin typeface="Consolas"/>
                <a:cs typeface="Consolas"/>
                <a:hlinkClick r:id="rId2"/>
              </a:rPr>
              <a:t>"https://food-delivery-backend-</a:t>
            </a:r>
            <a:r>
              <a:rPr dirty="0" sz="1050" spc="-10">
                <a:solidFill>
                  <a:srgbClr val="8B949D"/>
                </a:solidFill>
                <a:latin typeface="Consolas"/>
                <a:cs typeface="Consolas"/>
                <a:hlinkClick r:id="rId2"/>
              </a:rPr>
              <a:t>5b6g.onrender.com";</a:t>
            </a:r>
            <a:endParaRPr sz="1050">
              <a:latin typeface="Consolas"/>
              <a:cs typeface="Consolas"/>
            </a:endParaRPr>
          </a:p>
          <a:p>
            <a:pPr marL="387985" indent="-37528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387985" algn="l"/>
              </a:tabLst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const </a:t>
            </a:r>
            <a:r>
              <a:rPr dirty="0" sz="1050" spc="-10">
                <a:solidFill>
                  <a:srgbClr val="78BFFF"/>
                </a:solidFill>
                <a:latin typeface="Consolas"/>
                <a:cs typeface="Consolas"/>
              </a:rPr>
              <a:t>url</a:t>
            </a:r>
            <a:r>
              <a:rPr dirty="0" sz="1050" spc="-1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  <a:hlinkClick r:id="rId3"/>
              </a:rPr>
              <a:t>"http://localhost:4000"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87985" indent="-37528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387985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return </a:t>
            </a:r>
            <a:r>
              <a:rPr dirty="0" sz="1050" spc="-50">
                <a:solidFill>
                  <a:srgbClr val="C8D0D9"/>
                </a:solidFill>
                <a:latin typeface="Consolas"/>
                <a:cs typeface="Consolas"/>
              </a:rPr>
              <a:t>(</a:t>
            </a:r>
            <a:endParaRPr sz="1050">
              <a:latin typeface="Consolas"/>
              <a:cs typeface="Consolas"/>
            </a:endParaRPr>
          </a:p>
          <a:p>
            <a:pPr marL="534035" indent="-521334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534035" algn="l"/>
              </a:tabLst>
            </a:pP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div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680720" indent="-66802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68072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ToastContainer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680720" indent="-66802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68072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Navbar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680720" indent="-66802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68072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hr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680720" indent="-66802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68072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div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className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"app-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content"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27405" indent="-81470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827405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Sidebar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827405" indent="-81470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827405" algn="l"/>
              </a:tabLst>
            </a:pP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Routes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Login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"/add"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Add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"/list"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List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2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"/orders"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Orders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url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12700" marR="3606165" indent="732790">
              <a:lnSpc>
                <a:spcPct val="113100"/>
              </a:lnSpc>
              <a:buAutoNum type="alphaLcPeriod" startAt="12"/>
              <a:tabLst>
                <a:tab pos="745490" algn="l"/>
                <a:tab pos="892175" algn="l"/>
              </a:tabLst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Routes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ab.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div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4119245">
              <a:lnSpc>
                <a:spcPct val="113100"/>
              </a:lnSpc>
              <a:tabLst>
                <a:tab pos="452120" algn="l"/>
                <a:tab pos="598805" algn="l"/>
              </a:tabLst>
            </a:pP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ac.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	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div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ad.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ae.</a:t>
            </a:r>
            <a:r>
              <a:rPr dirty="0" sz="1050" spc="-5">
                <a:solidFill>
                  <a:srgbClr val="C8D0D9"/>
                </a:solidFill>
                <a:latin typeface="Consolas"/>
                <a:cs typeface="Consolas"/>
              </a:rPr>
              <a:t>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}</a:t>
            </a:r>
            <a:r>
              <a:rPr dirty="0" sz="1050" spc="-25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15"/>
              </a:spcBef>
            </a:pPr>
            <a:r>
              <a:rPr dirty="0" sz="1200" spc="-25">
                <a:latin typeface="Arial"/>
                <a:cs typeface="Arial"/>
              </a:rPr>
              <a:t>af.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15"/>
              </a:lnSpc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ag.</a:t>
            </a:r>
            <a:r>
              <a:rPr dirty="0" sz="1050" spc="-5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export default </a:t>
            </a:r>
            <a:r>
              <a:rPr dirty="0" sz="1050" spc="-20">
                <a:solidFill>
                  <a:srgbClr val="D1A7FF"/>
                </a:solidFill>
                <a:latin typeface="Consolas"/>
                <a:cs typeface="Consolas"/>
              </a:rPr>
              <a:t>App</a:t>
            </a:r>
            <a:r>
              <a:rPr dirty="0" sz="1050" spc="-2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 spc="-25">
                <a:latin typeface="Arial"/>
                <a:cs typeface="Arial"/>
              </a:rPr>
              <a:t>ah.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724" y="6562787"/>
            <a:ext cx="3618229" cy="3496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b.</a:t>
            </a:r>
            <a:r>
              <a:rPr dirty="0" sz="1400" spc="-10" b="1">
                <a:latin typeface="Times New Roman"/>
                <a:cs typeface="Times New Roman"/>
              </a:rPr>
              <a:t> Server.js</a:t>
            </a:r>
            <a:endParaRPr sz="1400">
              <a:latin typeface="Times New Roman"/>
              <a:cs typeface="Times New Roman"/>
            </a:endParaRPr>
          </a:p>
          <a:p>
            <a:pPr marL="12700" marR="1397635">
              <a:lnSpc>
                <a:spcPct val="226200"/>
              </a:lnSpc>
              <a:spcBef>
                <a:spcPts val="5"/>
              </a:spcBef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express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"express"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cors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"cors"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 marR="151130">
              <a:lnSpc>
                <a:spcPct val="226200"/>
              </a:lnSpc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{ connectDB }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"./config/db.js"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foodRouter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"./routes/foodRoute.js"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userRouter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"./routes/userRoute.js"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"dotenv/config"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 marR="5080">
              <a:lnSpc>
                <a:spcPct val="226200"/>
              </a:lnSpc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cartRouter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"./routes/cartRoute.js"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orderRouter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"./routes/orderRoute.js"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morgan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"morgan"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724" y="711200"/>
            <a:ext cx="2665730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8B949D"/>
                </a:solidFill>
                <a:latin typeface="Consolas"/>
                <a:cs typeface="Consolas"/>
              </a:rPr>
              <a:t>// app </a:t>
            </a:r>
            <a:r>
              <a:rPr dirty="0" sz="1050" spc="-10">
                <a:solidFill>
                  <a:srgbClr val="8B949D"/>
                </a:solidFill>
                <a:latin typeface="Consolas"/>
                <a:cs typeface="Consolas"/>
              </a:rPr>
              <a:t>config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const 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app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express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const 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port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process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env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78BFFF"/>
                </a:solidFill>
                <a:latin typeface="Consolas"/>
                <a:cs typeface="Consolas"/>
              </a:rPr>
              <a:t>PORT</a:t>
            </a:r>
            <a:r>
              <a:rPr dirty="0" sz="1050" spc="-10">
                <a:solidFill>
                  <a:srgbClr val="D4D4D4"/>
                </a:solidFill>
                <a:latin typeface="Consolas"/>
                <a:cs typeface="Consolas"/>
              </a:rPr>
              <a:t>||</a:t>
            </a:r>
            <a:r>
              <a:rPr dirty="0" sz="1050" spc="-10">
                <a:solidFill>
                  <a:srgbClr val="B4CDA7"/>
                </a:solidFill>
                <a:latin typeface="Consolas"/>
                <a:cs typeface="Consolas"/>
              </a:rPr>
              <a:t>4000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724" y="2101850"/>
            <a:ext cx="2078989" cy="163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8B949D"/>
                </a:solidFill>
                <a:latin typeface="Consolas"/>
                <a:cs typeface="Consolas"/>
              </a:rPr>
              <a:t>//middlewares</a:t>
            </a:r>
            <a:endParaRPr sz="1050">
              <a:latin typeface="Consolas"/>
              <a:cs typeface="Consolas"/>
            </a:endParaRPr>
          </a:p>
          <a:p>
            <a:pPr marL="12700" marR="297815">
              <a:lnSpc>
                <a:spcPct val="226200"/>
              </a:lnSpc>
            </a:pP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express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json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());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cors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());</a:t>
            </a:r>
            <a:endParaRPr sz="1050">
              <a:latin typeface="Consolas"/>
              <a:cs typeface="Consolas"/>
            </a:endParaRPr>
          </a:p>
          <a:p>
            <a:pPr marL="12700" marR="5080">
              <a:lnSpc>
                <a:spcPct val="226200"/>
              </a:lnSpc>
            </a:pP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morgan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"tiny"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));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morgan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"combined"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724" y="4216400"/>
            <a:ext cx="1198880" cy="547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8B949D"/>
                </a:solidFill>
                <a:latin typeface="Consolas"/>
                <a:cs typeface="Consolas"/>
              </a:rPr>
              <a:t>// DB </a:t>
            </a:r>
            <a:r>
              <a:rPr dirty="0" sz="1050" spc="-10">
                <a:solidFill>
                  <a:srgbClr val="8B949D"/>
                </a:solidFill>
                <a:latin typeface="Consolas"/>
                <a:cs typeface="Consolas"/>
              </a:rPr>
              <a:t>connection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connectDB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724" y="5245100"/>
            <a:ext cx="3399154" cy="1985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8B949D"/>
                </a:solidFill>
                <a:latin typeface="Consolas"/>
                <a:cs typeface="Consolas"/>
              </a:rPr>
              <a:t>// api </a:t>
            </a:r>
            <a:r>
              <a:rPr dirty="0" sz="1050" spc="-10">
                <a:solidFill>
                  <a:srgbClr val="8B949D"/>
                </a:solidFill>
                <a:latin typeface="Consolas"/>
                <a:cs typeface="Consolas"/>
              </a:rPr>
              <a:t>endpoints</a:t>
            </a:r>
            <a:endParaRPr sz="1050">
              <a:latin typeface="Consolas"/>
              <a:cs typeface="Consolas"/>
            </a:endParaRPr>
          </a:p>
          <a:p>
            <a:pPr marL="12700" marR="5080">
              <a:lnSpc>
                <a:spcPct val="224700"/>
              </a:lnSpc>
              <a:spcBef>
                <a:spcPts val="15"/>
              </a:spcBef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"/api/food"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foodRouter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);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"/images"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express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static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"uploads"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));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"/api/user"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userRouter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);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"/api/cart"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cartRouter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);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use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"/api/order"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orderRouter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724" y="7712075"/>
            <a:ext cx="2078989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get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"/"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(</a:t>
            </a:r>
            <a:r>
              <a:rPr dirty="0" sz="1050">
                <a:solidFill>
                  <a:srgbClr val="FFA657"/>
                </a:solidFill>
                <a:latin typeface="Consolas"/>
                <a:cs typeface="Consolas"/>
              </a:rPr>
              <a:t>req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>
                <a:solidFill>
                  <a:srgbClr val="FFA657"/>
                </a:solidFill>
                <a:latin typeface="Consolas"/>
                <a:cs typeface="Consolas"/>
              </a:rPr>
              <a:t>res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) 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=&gt; </a:t>
            </a:r>
            <a:r>
              <a:rPr dirty="0" sz="1050" spc="-50">
                <a:solidFill>
                  <a:srgbClr val="C8D0D9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res.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send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"API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Working"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}</a:t>
            </a:r>
            <a:r>
              <a:rPr dirty="0" sz="1050" spc="-25">
                <a:solidFill>
                  <a:srgbClr val="BABE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724" y="9102725"/>
            <a:ext cx="3618865" cy="9093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app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listen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port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() 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=&gt; </a:t>
            </a:r>
            <a:r>
              <a:rPr dirty="0" sz="1050" spc="-50">
                <a:solidFill>
                  <a:srgbClr val="C8D0D9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58750">
              <a:lnSpc>
                <a:spcPct val="100000"/>
              </a:lnSpc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console.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log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(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`Server Started on port: </a:t>
            </a:r>
            <a:r>
              <a:rPr dirty="0" sz="1050" spc="-10">
                <a:solidFill>
                  <a:srgbClr val="569CD5"/>
                </a:solidFill>
                <a:latin typeface="Consolas"/>
                <a:cs typeface="Consolas"/>
              </a:rPr>
              <a:t>${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port</a:t>
            </a:r>
            <a:r>
              <a:rPr dirty="0" sz="1050" spc="-10">
                <a:solidFill>
                  <a:srgbClr val="569CD5"/>
                </a:solidFill>
                <a:latin typeface="Consolas"/>
                <a:cs typeface="Consolas"/>
              </a:rPr>
              <a:t>}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`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}</a:t>
            </a:r>
            <a:r>
              <a:rPr dirty="0" sz="1050" spc="-25">
                <a:solidFill>
                  <a:srgbClr val="BABE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724" y="654050"/>
            <a:ext cx="50114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8B949D"/>
                </a:solidFill>
                <a:latin typeface="Consolas"/>
                <a:cs typeface="Consolas"/>
                <a:hlinkClick r:id="rId2"/>
              </a:rPr>
              <a:t>//mongodb+srv://Subhapanja:Subhapanja@cluster0.zj08pgp.mongodb.net/?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925" y="1704820"/>
            <a:ext cx="5387975" cy="67208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25"/>
              </a:spcBef>
              <a:buFont typeface="Times New Roman"/>
              <a:buAutoNum type="alphaLcPeriod"/>
              <a:tabLst>
                <a:tab pos="240029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App.jsx</a:t>
            </a:r>
            <a:endParaRPr sz="14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170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React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,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{ useState }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"react"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Navbar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"./components/Navbar/Navbar"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{ Route, Routes }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"react-router-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dom"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Home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"./pages/Home/Home"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Cart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"./pages/Cart/Cart"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PlaceOrder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"./pages/PlaceOrder/PlaceOrder"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Footer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"./components/Footer/Footer"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LoginPopup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"./components/LoginPopup/LoginPopup"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{ ToastContainer }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"react-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toastify"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</a:t>
            </a:r>
            <a:r>
              <a:rPr dirty="0" sz="1050" spc="-10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"react-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toastify/dist/ReactToastify.css"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Verify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"./pages/Verify/Verify"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165"/>
              </a:spcBef>
              <a:buAutoNum type="alphaLcPeriod"/>
              <a:tabLst>
                <a:tab pos="240029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import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MyOrders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from 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"./pages/MyOrders/MyOrders"</a:t>
            </a:r>
            <a:r>
              <a:rPr dirty="0" sz="1050" spc="-1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15"/>
              </a:spcBef>
            </a:pPr>
            <a:r>
              <a:rPr dirty="0" sz="1200" spc="-25">
                <a:latin typeface="Arial"/>
                <a:cs typeface="Arial"/>
              </a:rPr>
              <a:t>n.</a:t>
            </a:r>
            <a:endParaRPr sz="1200">
              <a:latin typeface="Arial"/>
              <a:cs typeface="Arial"/>
            </a:endParaRPr>
          </a:p>
          <a:p>
            <a:pPr marL="240029" indent="-227329">
              <a:lnSpc>
                <a:spcPts val="1215"/>
              </a:lnSpc>
              <a:buAutoNum type="alphaLcPeriod" startAt="15"/>
              <a:tabLst>
                <a:tab pos="240029" algn="l"/>
              </a:tabLst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const 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App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dirty="0" sz="1050">
                <a:solidFill>
                  <a:srgbClr val="BABEBE"/>
                </a:solidFill>
                <a:latin typeface="Consolas"/>
                <a:cs typeface="Consolas"/>
              </a:rPr>
              <a:t>() 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=&gt; </a:t>
            </a:r>
            <a:r>
              <a:rPr dirty="0" sz="1050" spc="-50">
                <a:solidFill>
                  <a:srgbClr val="C8D0D9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87985" indent="-37528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387985" algn="l"/>
              </a:tabLst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const 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[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showLogin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, 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setShowLogin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]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dirty="0" sz="1050" spc="-10">
                <a:solidFill>
                  <a:srgbClr val="D1A7FF"/>
                </a:solidFill>
                <a:latin typeface="Consolas"/>
                <a:cs typeface="Consolas"/>
              </a:rPr>
              <a:t>useState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(</a:t>
            </a:r>
            <a:r>
              <a:rPr dirty="0" sz="1050" spc="-10">
                <a:solidFill>
                  <a:srgbClr val="569CD5"/>
                </a:solidFill>
                <a:latin typeface="Consolas"/>
                <a:cs typeface="Consolas"/>
              </a:rPr>
              <a:t>false</a:t>
            </a:r>
            <a:r>
              <a:rPr dirty="0" sz="1050" spc="-10">
                <a:solidFill>
                  <a:srgbClr val="C8D0D9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387985" indent="-37528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387985" algn="l"/>
              </a:tabLst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return </a:t>
            </a:r>
            <a:r>
              <a:rPr dirty="0" sz="1050" spc="-50">
                <a:solidFill>
                  <a:srgbClr val="C8D0D9"/>
                </a:solidFill>
                <a:latin typeface="Consolas"/>
                <a:cs typeface="Consolas"/>
              </a:rPr>
              <a:t>(</a:t>
            </a:r>
            <a:endParaRPr sz="1050">
              <a:latin typeface="Consolas"/>
              <a:cs typeface="Consolas"/>
            </a:endParaRPr>
          </a:p>
          <a:p>
            <a:pPr marL="534035" indent="-521334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534035" algn="l"/>
              </a:tabLst>
            </a:pP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&lt;&gt;</a:t>
            </a:r>
            <a:endParaRPr sz="1050">
              <a:latin typeface="Consolas"/>
              <a:cs typeface="Consolas"/>
            </a:endParaRPr>
          </a:p>
          <a:p>
            <a:pPr marL="680720" indent="-66802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680720" algn="l"/>
              </a:tabLst>
            </a:pP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78BFFF"/>
                </a:solidFill>
                <a:latin typeface="Consolas"/>
                <a:cs typeface="Consolas"/>
              </a:rPr>
              <a:t>showLogin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?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LoginPopup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setShowLogin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setShowLogin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 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: 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&lt;&gt;&lt;/&gt;</a:t>
            </a:r>
            <a:r>
              <a:rPr dirty="0" sz="1050" spc="-10">
                <a:solidFill>
                  <a:srgbClr val="FF7B72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680720" indent="-66802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68072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div </a:t>
            </a:r>
            <a:r>
              <a:rPr dirty="0" sz="1050" spc="-10">
                <a:solidFill>
                  <a:srgbClr val="9CDBFE"/>
                </a:solidFill>
                <a:latin typeface="Consolas"/>
                <a:cs typeface="Consolas"/>
              </a:rPr>
              <a:t>className</a:t>
            </a:r>
            <a:r>
              <a:rPr dirty="0" sz="1050" spc="-1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 spc="-10">
                <a:solidFill>
                  <a:srgbClr val="A5D5FF"/>
                </a:solidFill>
                <a:latin typeface="Consolas"/>
                <a:cs typeface="Consolas"/>
              </a:rPr>
              <a:t>"app"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27405" indent="-81470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827405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ToastContainer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827405" indent="-81470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827405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Navbar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setShowLogin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D1A7FF"/>
                </a:solidFill>
                <a:latin typeface="Consolas"/>
                <a:cs typeface="Consolas"/>
              </a:rPr>
              <a:t>setShowLogin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827405" indent="-814705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15"/>
              <a:tabLst>
                <a:tab pos="827405" algn="l"/>
              </a:tabLst>
            </a:pP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Routes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24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Home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24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"/cart"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Cart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974090" indent="-961390">
              <a:lnSpc>
                <a:spcPct val="100000"/>
              </a:lnSpc>
              <a:spcBef>
                <a:spcPts val="165"/>
              </a:spcBef>
              <a:buClr>
                <a:srgbClr val="C8D0D9"/>
              </a:buClr>
              <a:buAutoNum type="alphaLcPeriod" startAt="24"/>
              <a:tabLst>
                <a:tab pos="974090" algn="l"/>
              </a:tabLst>
            </a:pP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"/order"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PlaceOrder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1050">
              <a:latin typeface="Consolas"/>
              <a:cs typeface="Consolas"/>
            </a:endParaRPr>
          </a:p>
          <a:p>
            <a:pPr marL="12700" marR="746760" indent="879475">
              <a:lnSpc>
                <a:spcPct val="113100"/>
              </a:lnSpc>
              <a:buAutoNum type="alphaLcPeriod" startAt="24"/>
              <a:tabLst>
                <a:tab pos="892175" algn="l"/>
                <a:tab pos="1038860" algn="l"/>
              </a:tabLst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"/verify"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Verify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 spc="500">
                <a:solidFill>
                  <a:srgbClr val="808080"/>
                </a:solidFill>
                <a:latin typeface="Consolas"/>
                <a:cs typeface="Consolas"/>
              </a:rPr>
              <a:t>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ab.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	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Route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path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A5D5FF"/>
                </a:solidFill>
                <a:latin typeface="Consolas"/>
                <a:cs typeface="Consolas"/>
              </a:rPr>
              <a:t>"/myorders" </a:t>
            </a:r>
            <a:r>
              <a:rPr dirty="0" sz="1050">
                <a:solidFill>
                  <a:srgbClr val="9CDBFE"/>
                </a:solidFill>
                <a:latin typeface="Consolas"/>
                <a:cs typeface="Consolas"/>
              </a:rPr>
              <a:t>element</a:t>
            </a:r>
            <a:r>
              <a:rPr dirty="0" sz="105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{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MyOrders 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dirty="0" sz="1050">
                <a:solidFill>
                  <a:srgbClr val="FF7B72"/>
                </a:solidFill>
                <a:latin typeface="Consolas"/>
                <a:cs typeface="Consolas"/>
              </a:rPr>
              <a:t>}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ac.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Routes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5490" algn="l"/>
              </a:tabLst>
            </a:pP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ad.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dirty="0" sz="1050" spc="-10">
                <a:solidFill>
                  <a:srgbClr val="7DE786"/>
                </a:solidFill>
                <a:latin typeface="Consolas"/>
                <a:cs typeface="Consolas"/>
              </a:rPr>
              <a:t>div</a:t>
            </a:r>
            <a:r>
              <a:rPr dirty="0" sz="1050" spc="-1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3900170">
              <a:lnSpc>
                <a:spcPct val="113100"/>
              </a:lnSpc>
              <a:tabLst>
                <a:tab pos="598805" algn="l"/>
                <a:tab pos="745490" algn="l"/>
              </a:tabLst>
            </a:pP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ae.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	</a:t>
            </a:r>
            <a:r>
              <a:rPr dirty="0" sz="105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dirty="0" sz="1050">
                <a:solidFill>
                  <a:srgbClr val="7DE786"/>
                </a:solidFill>
                <a:latin typeface="Consolas"/>
                <a:cs typeface="Consolas"/>
              </a:rPr>
              <a:t>Footer 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/&gt;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af.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25">
                <a:solidFill>
                  <a:srgbClr val="808080"/>
                </a:solidFill>
                <a:latin typeface="Consolas"/>
                <a:cs typeface="Consolas"/>
              </a:rPr>
              <a:t>&lt;/&gt;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452120" algn="l"/>
              </a:tabLst>
            </a:pP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ag.</a:t>
            </a: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	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C8D0D9"/>
                </a:solidFill>
                <a:latin typeface="Consolas"/>
                <a:cs typeface="Consolas"/>
              </a:rPr>
              <a:t>ah.</a:t>
            </a:r>
            <a:r>
              <a:rPr dirty="0" sz="1050" spc="-5">
                <a:solidFill>
                  <a:srgbClr val="C8D0D9"/>
                </a:solidFill>
                <a:latin typeface="Consolas"/>
                <a:cs typeface="Consolas"/>
              </a:rPr>
              <a:t> </a:t>
            </a:r>
            <a:r>
              <a:rPr dirty="0" sz="1050" spc="-25">
                <a:solidFill>
                  <a:srgbClr val="C8D0D9"/>
                </a:solidFill>
                <a:latin typeface="Consolas"/>
                <a:cs typeface="Consolas"/>
              </a:rPr>
              <a:t>}</a:t>
            </a:r>
            <a:r>
              <a:rPr dirty="0" sz="1050" spc="-25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15"/>
              </a:spcBef>
            </a:pPr>
            <a:r>
              <a:rPr dirty="0" sz="1200" spc="-25">
                <a:latin typeface="Arial"/>
                <a:cs typeface="Arial"/>
              </a:rPr>
              <a:t>ai.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15"/>
              </a:lnSpc>
            </a:pP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aj.</a:t>
            </a:r>
            <a:r>
              <a:rPr dirty="0" sz="1050" spc="-5">
                <a:solidFill>
                  <a:srgbClr val="C486BF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C486BF"/>
                </a:solidFill>
                <a:latin typeface="Consolas"/>
                <a:cs typeface="Consolas"/>
              </a:rPr>
              <a:t>export default </a:t>
            </a:r>
            <a:r>
              <a:rPr dirty="0" sz="1050" spc="-20">
                <a:solidFill>
                  <a:srgbClr val="D1A7FF"/>
                </a:solidFill>
                <a:latin typeface="Consolas"/>
                <a:cs typeface="Consolas"/>
              </a:rPr>
              <a:t>App</a:t>
            </a:r>
            <a:r>
              <a:rPr dirty="0" sz="1050" spc="-20">
                <a:solidFill>
                  <a:srgbClr val="BABE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00" spc="-25">
                <a:latin typeface="Arial"/>
                <a:cs typeface="Arial"/>
              </a:rPr>
              <a:t>ak.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724" y="1076388"/>
            <a:ext cx="2390140" cy="2054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“Results”: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6830"/>
              </a:lnSpc>
              <a:spcBef>
                <a:spcPts val="685"/>
              </a:spcBef>
            </a:pPr>
            <a:r>
              <a:rPr dirty="0" sz="2000" spc="-35" b="1">
                <a:latin typeface="Calibri"/>
                <a:cs typeface="Calibri"/>
              </a:rPr>
              <a:t>Tomato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Landing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Page:-Tomato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724" y="3321050"/>
            <a:ext cx="20815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Registration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&amp;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Page:-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352425"/>
            <a:ext cx="6857999" cy="6210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1517" y="7048562"/>
            <a:ext cx="1237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Calibri"/>
                <a:cs typeface="Calibri"/>
              </a:rPr>
              <a:t>Menu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Page: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5" y="352425"/>
            <a:ext cx="6857999" cy="32575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425" y="4857750"/>
            <a:ext cx="6857999" cy="3257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9724" y="9715562"/>
            <a:ext cx="32708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Add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Cart/Payment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Section: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4" y="1819275"/>
            <a:ext cx="6857999" cy="64388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5982" y="8382062"/>
            <a:ext cx="14166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Admin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Panel: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4" y="352425"/>
            <a:ext cx="6857999" cy="70770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9724" y="8536453"/>
            <a:ext cx="19367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latin typeface="Calibri"/>
                <a:cs typeface="Calibri"/>
              </a:rPr>
              <a:t>14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SUBHA PANJA</dc:creator>
  <cp:keywords>DAHIHzhRa6Q,BAGFOfk0WII,0</cp:keywords>
  <dc:title>IOHE.docx</dc:title>
  <dcterms:created xsi:type="dcterms:W3CDTF">2026-05-06T14:44:32Z</dcterms:created>
  <dcterms:modified xsi:type="dcterms:W3CDTF">2026-05-06T14:44:32Z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2026-04-28T00:00:00Z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2026-05-06T00:00:00Z</vt:filetime>
  </property>
  <property fmtid="{D5CDD505-2E9C-101B-9397-08002B2CF9AE}" pid="5" name="Producer">
    <vt:lpwstr>Canva</vt:lpwstr>
  </property>
</Properties>
</file>